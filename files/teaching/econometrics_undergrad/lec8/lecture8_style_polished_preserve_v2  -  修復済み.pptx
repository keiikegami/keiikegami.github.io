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34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- /mnt/data/lecture8_assets/overall_scatter.png (chart regenerated from the user-provided manuscript's simulation code for the fertilizer example).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- /mnt/data/lecture8_assets/overall_scatter.png (chart regenerated from the fertilizer simulation in the user-provided manuscript).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- /mnt/data/lecture8_assets/within_scatter.png (chart regenerated from the user-provided manuscript's farm-colored panel scatter plot).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- /mnt/data/lecture8_assets/coef_compare.png (figure recreated from the reported coefficients in the user-provided simulation section).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- /mnt/data/lecture8_assets/shortpanel_boxplot.png (figure recreated from the short-panel simulation summary reported in the user-provided manuscript).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- /mnt/data/lecture8_assets/mean_se_line.png (figure recreated from the mean standard errors reported in the user-provided short-panel simulation section).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/mnt/data/lecture8_revised.qmd (user-provided lecture manuscript)
- /mnt/data/lecture8_revised.html (user-provided rendered HTML reference)
- This slide was rebuilt from the user-provided manuscript/HTML, with wording and equations rewritten for classroom use while preserving the established visual style.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5F3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固定効果モデル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パネルデータ・within 変換・差分回帰・TWFE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同じ個体の中の変化を使うとはどういうことか。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 がなぜ外れ、fixed effects が何を差し引くのかを図と式でつなぐ。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16168" y="960120"/>
            <a:ext cx="544068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blurRad="17780" dist="508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025896" y="1069848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025896" y="1078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intuition</a:t>
            </a:r>
            <a:endParaRPr lang="en-US" sz="950" dirty="0"/>
          </a:p>
        </p:txBody>
      </p:sp>
      <p:pic>
        <p:nvPicPr>
          <p:cNvPr id="11" name="Image 0" descr="/mnt/data/lecture8_assets/overall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455" y="1380744"/>
            <a:ext cx="4240107" cy="28620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8096" y="4069080"/>
            <a:ext cx="786384" cy="265176"/>
          </a:xfrm>
          <a:prstGeom prst="roundRect">
            <a:avLst>
              <a:gd name="adj" fmla="val 3448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768096" y="4078224"/>
            <a:ext cx="786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673352" y="4069080"/>
            <a:ext cx="1097280" cy="265176"/>
          </a:xfrm>
          <a:prstGeom prst="roundRect">
            <a:avLst>
              <a:gd name="adj" fmla="val 34483"/>
            </a:avLst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1673352" y="40782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889504" y="4069080"/>
            <a:ext cx="1170432" cy="265176"/>
          </a:xfrm>
          <a:prstGeom prst="roundRect">
            <a:avLst>
              <a:gd name="adj" fmla="val 34483"/>
            </a:avLst>
          </a:prstGeom>
          <a:solidFill>
            <a:srgbClr val="B78008"/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2889504" y="4078224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差分回帰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78808" y="4069080"/>
            <a:ext cx="1325880" cy="265176"/>
          </a:xfrm>
          <a:prstGeom prst="roundRect">
            <a:avLst>
              <a:gd name="adj" fmla="val 3448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6"/>
          <p:cNvSpPr/>
          <p:nvPr/>
        </p:nvSpPr>
        <p:spPr>
          <a:xfrm>
            <a:off x="4178808" y="407822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 / AKM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9808" y="4590288"/>
            <a:ext cx="5440680" cy="1143000"/>
          </a:xfrm>
          <a:prstGeom prst="roundRect">
            <a:avLst>
              <a:gd name="adj" fmla="val 11200"/>
            </a:avLst>
          </a:prstGeom>
          <a:solidFill>
            <a:srgbClr val="F8FB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914400" y="47000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この講義の流れ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4400" y="4992624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誤った比較を確認する → within 比較へ切り替える → short panel の難しさを押さえる → TWFE と AKM へ拡張する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" y="6446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48872" y="644652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この講義で押さえるポイント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 の論点を最初に 3 行で固定する。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225806000" dist="64516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Point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883664"/>
            <a:ext cx="31363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固定効果モデルは、観測されないが時間を通じて不変な要因を差し引くための基本ツールである。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89120" y="1481328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Point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1883664"/>
            <a:ext cx="31363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識別に使うのは個体間の差ではなく、同じ個体の中での変化である。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36992" y="1481328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Point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1883664"/>
            <a:ext cx="31363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within 変換・差分回帰・TWFE は、「何を差し引いているか」でまとめると整理しやすい。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7824" y="5486400"/>
            <a:ext cx="10469880" cy="292608"/>
          </a:xfrm>
          <a:prstGeom prst="roundRect">
            <a:avLst>
              <a:gd name="adj" fmla="val 28125"/>
            </a:avLst>
          </a:prstGeom>
          <a:solidFill>
            <a:srgbClr val="FFF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877824" y="5486400"/>
            <a:ext cx="128016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097280" y="5500116"/>
            <a:ext cx="101772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比較対象を between から within に切り替える、という一本の話として読む。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Lecture の流れ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比較設計として fixed effects を読む。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4937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002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誤る比較を確認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883664"/>
            <a:ext cx="46451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全観測を一括で回す pooled OLS が、なぜ符号まで外しうるのかをまず見る。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6419088" y="1481328"/>
            <a:ext cx="4937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565392" y="16002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within への切替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1883664"/>
            <a:ext cx="46451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農家ごとに基準線を持たせるダミー法と、平均との差を取る within 変換を対応させる。</a:t>
            </a:r>
            <a:endParaRPr lang="en-US" sz="1310" dirty="0"/>
          </a:p>
        </p:txBody>
      </p:sp>
      <p:sp>
        <p:nvSpPr>
          <p:cNvPr id="16" name="Shape 14"/>
          <p:cNvSpPr/>
          <p:nvPr/>
        </p:nvSpPr>
        <p:spPr>
          <a:xfrm>
            <a:off x="841248" y="3538728"/>
            <a:ext cx="4937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B7800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87552" y="36576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short panel と差分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941064"/>
            <a:ext cx="46451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が短いと何がつらいか、そして T=2 では FE が差分回帰になることを押さえる。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419088" y="3538728"/>
            <a:ext cx="4937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565392" y="36576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TWFE と AKM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3941064"/>
            <a:ext cx="46451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 FE に時点 FE を足すと何を差し引くのか、two-way FE の代表例まで進む。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877824" y="5623560"/>
            <a:ext cx="10469880" cy="256032"/>
          </a:xfrm>
          <a:prstGeom prst="roundRect">
            <a:avLst>
              <a:gd name="adj" fmla="val 32143"/>
            </a:avLst>
          </a:prstGeom>
          <a:solidFill>
            <a:srgbClr val="FFF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77824" y="5623560"/>
            <a:ext cx="128016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97280" y="5632704"/>
            <a:ext cx="10177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後半の short panel・TWFE・AKM は、すべて「何を差し引いて β を残すか」の延長線上にある。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4"/>
          </a:solidFill>
          <a:ln w="12700">
            <a:solidFill>
              <a:srgbClr val="EA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11155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導入：同じデータでも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結論は真逆になりうる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4672" y="1847088"/>
            <a:ext cx="155448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04672" y="2029968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まずは肥料の例から、誤った比較がどのように生まれるかを確認する。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88352" y="1078992"/>
            <a:ext cx="3977640" cy="44348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552944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この部で押さえること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1682496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43800" y="1691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5008" y="16276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全体では負相関に見える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43800" y="2560320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25694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5008" y="25054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同じ農家の中では正の関係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43800" y="3438144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543800" y="3447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65008" y="3383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その差を可能にするのがパネルデータ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同じデータから「肥料は有害」に見えてしまう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全観測をまとめて見ると、まず負の相関が目に入る。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786384" y="1417320"/>
            <a:ext cx="548640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96112" y="1527048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96112" y="1536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observed scatter</a:t>
            </a:r>
            <a:endParaRPr lang="en-US" sz="950" dirty="0"/>
          </a:p>
        </p:txBody>
      </p:sp>
      <p:pic>
        <p:nvPicPr>
          <p:cNvPr id="13" name="Image 0" descr="/mnt/data/lecture8_assets/overall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8480"/>
            <a:ext cx="5157216" cy="34811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492240" y="1481328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638544" y="1600200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観測される事実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38544" y="1883664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散布図だけを見ると、肥料投入量が多いほど収穫量が低いように見える。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92240" y="274320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638544" y="286207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危ない読み方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38544" y="3145536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ここから「だから補助金は不要だ」と結論すると、between の比較をそのまま因果と読んでいることになる。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92240" y="4005072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638544" y="4123944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このスライドの要点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38544" y="4407408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データが間違っているのではなく、比較の設計が間違っている。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なぜ符号が反転するのか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色を固定して見ると、話は逆転する。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786384" y="1417320"/>
            <a:ext cx="548640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896112" y="1527048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96112" y="1536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farm-colored scatter</a:t>
            </a:r>
            <a:endParaRPr lang="en-US" sz="950" dirty="0"/>
          </a:p>
        </p:txBody>
      </p:sp>
      <p:pic>
        <p:nvPicPr>
          <p:cNvPr id="13" name="Image 0" descr="/mnt/data/lecture8_assets/within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8480"/>
            <a:ext cx="5157216" cy="34811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492240" y="141732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638544" y="153619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図から読めること 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38544" y="1819656"/>
            <a:ext cx="4462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同じ色をたどると、肥料投入が増えた月ほど収穫量も増えている。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92240" y="2697480"/>
            <a:ext cx="47548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638544" y="281635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図から読めること 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38544" y="3099816"/>
            <a:ext cx="44622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生産性の低い農家ほど、そもそも肥料に頼っている。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92240" y="3977640"/>
            <a:ext cx="475488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6629400" y="408736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629400" y="4096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問題の核</a:t>
            </a:r>
            <a:endParaRPr lang="en-US" sz="9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6832" y="4693980"/>
            <a:ext cx="4425696" cy="240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まず前提：パネルデータとは何か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を可能にするのは、同じ個体を繰り返し観測していることだ。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04672" y="1444752"/>
            <a:ext cx="37033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50976" y="156362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この講義のデータ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0976" y="1883664"/>
            <a:ext cx="3447288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 軒の農家を 10 か月追跡する。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 (i,t) について、肥料投入量 xᵢₜ と収穫量 yᵢₜ を観測する。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 は「誰か」、t は「いつか」を表す添字である。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36592" y="1508760"/>
            <a:ext cx="274320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873752" y="161848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873752" y="1627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観測単位</a:t>
            </a:r>
            <a:endParaRPr lang="en-US" sz="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8226" y="1929384"/>
            <a:ext cx="1619932" cy="46634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736592" y="274320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4882896" y="286207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なぜ重要か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82896" y="3145536"/>
            <a:ext cx="2450592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同じ農家の「いつもの水準」からのズレを作れるからである。各農家を一回しか観測しないと、within 比較はそもそもできない。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7726680" y="1444752"/>
            <a:ext cx="349300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7872984" y="15636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が要求するもの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872984" y="1883664"/>
            <a:ext cx="3236976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個体ごとの固定的な違いはあってよい。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その違いを差し引くために、同じ個体を複数期観測する。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比較の軸は between ではなく within になる。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クロスセクション・時系列・パネル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データ構造が違うと、できる比較も違う。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クロスセクション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20240"/>
            <a:ext cx="3172968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一時点だけで多くの個体を観測する。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比較できるのは個体どうしの差である。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同じ個体が時間とともにどう変わったかは見えない。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4389120" y="1481328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時系列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1920240"/>
            <a:ext cx="3172968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一つの対象を長く追う。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時間変化は見えるが、個体間比較はできない。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日本全体の米生産量の月次系列、のようなデータ。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7936992" y="1481328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パネル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1920240"/>
            <a:ext cx="3172968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複数の個体を複数時点で観測する。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個体差も時間変化も両方見える。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はこの構造を使って within 比較を作る。</a:t>
            </a:r>
            <a:endParaRPr lang="en-US" sz="13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パネルデータの利点は「同じ農家の中の変化」を追えること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知りたい問いを within の言葉で書き直す。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04672" y="1481328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50976" y="1600200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between で考えると危ない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50976" y="1883664"/>
            <a:ext cx="49194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「肥料を多く使う農家ほど収穫量が低い」は、農家間の違いと因果効果が混ざった比較である。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" y="3584448"/>
            <a:ext cx="52120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50976" y="3703320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within で問いを立てる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3986784"/>
            <a:ext cx="49194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ある農家が普段より多く肥料を投入した月に、普段より収穫量も増えるか。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91072" y="1481328"/>
            <a:ext cx="49377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37376" y="16002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ここで比較対象が変わる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37376" y="1920240"/>
            <a:ext cx="4681728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 が主に使うのは個体どうしの差。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が使うのは同じ個体の平均との差。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この切替が、符号の反転を説明する。</a:t>
            </a:r>
            <a:endParaRPr lang="en-US" sz="13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pooled OLS は何を比較しているか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全観測を一つの大きなサンプルとして回帰している。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37490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60120" y="161848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60120" y="1627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552" y="2033397"/>
            <a:ext cx="3419856" cy="34975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2880360"/>
            <a:ext cx="37490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69264" y="29992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何をしているか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9264" y="3319272"/>
            <a:ext cx="3493008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農家 1 の 1 月、農家 1 の 2 月、農家 2 の 1 月 … を横並びで扱う。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個体ごとの基準線の違いは明示的には入れない。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892040" y="1508760"/>
            <a:ext cx="6355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038344" y="162763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見落としているもの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38344" y="1911096"/>
            <a:ext cx="60624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農地の質・日当たり・農家の技術力のような、個体ごとに固定的な違いが投入量にも収穫量にも効くと、β₁ は因果効果を表さない。</a:t>
            </a:r>
            <a:endParaRPr lang="en-US" sz="1390" dirty="0"/>
          </a:p>
        </p:txBody>
      </p:sp>
      <p:sp>
        <p:nvSpPr>
          <p:cNvPr id="20" name="Shape 17"/>
          <p:cNvSpPr/>
          <p:nvPr/>
        </p:nvSpPr>
        <p:spPr>
          <a:xfrm>
            <a:off x="4892040" y="3154680"/>
            <a:ext cx="6355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038344" y="327355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の発想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38344" y="3557016"/>
            <a:ext cx="60624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各個体に固有の定数項 α_i を持たせるか、各個体平均との差だけを見ることで、時間不変の omitted variable を差し引く。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4FC"/>
          </a:solidFill>
          <a:ln w="12700">
            <a:solidFill>
              <a:srgbClr val="EDF4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11155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固定効果モデル：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「個体ごとに基準線を変える」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4672" y="1847088"/>
            <a:ext cx="1554480" cy="0"/>
          </a:xfrm>
          <a:prstGeom prst="line">
            <a:avLst/>
          </a:prstGeom>
          <a:noFill/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04672" y="2029968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ダミー変数法と within 変換は、見た目は違っても同じ β を回収する。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88352" y="1078992"/>
            <a:ext cx="3977640" cy="44348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552944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この部で押さえること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1682496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43800" y="1691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5008" y="16276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モデルは y = βx + α + u の形で書ける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43800" y="2560320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25694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5008" y="25054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ダミー法でも within 法でもよい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43800" y="3438144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543800" y="3447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65008" y="3383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識別は個体内変化だけに依存する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固定効果モデルの基本形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 αᵢ を入れたモデルをはっきり書く。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41148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60120" y="161848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60120" y="1627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one-way FE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552" y="2072841"/>
            <a:ext cx="3785616" cy="40803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301752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69264" y="31363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記号の意味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9264" y="3456432"/>
            <a:ext cx="3858768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yᵢₜ: 農家 i・時点 t の収穫量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xᵢₜ: 農家 i・時点 t の肥料投入量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αᵢ: 農家 i に固有で時間不変な要因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u_it: その月だけのショック</a:t>
            </a:r>
            <a:endParaRPr lang="en-US" sz="1360" dirty="0"/>
          </a:p>
        </p:txBody>
      </p:sp>
      <p:sp>
        <p:nvSpPr>
          <p:cNvPr id="17" name="Shape 14"/>
          <p:cNvSpPr/>
          <p:nvPr/>
        </p:nvSpPr>
        <p:spPr>
          <a:xfrm>
            <a:off x="5230368" y="1508760"/>
            <a:ext cx="5989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376672" y="1627632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このモデルがやりたいこと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76672" y="1911096"/>
            <a:ext cx="569671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土地の質や設備の差のような「ずっと同じもの」は αᵢ に吸収し、その上で投入量の変化に対する収穫量の反応だけを読む。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230368" y="3364992"/>
            <a:ext cx="59893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376672" y="3483864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比較の言い換え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376672" y="3767328"/>
            <a:ext cx="569671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固定効果モデルが見ているのは、農家 A と農家 B の比較ではなく、農家 A 自身の中で「普段より多く肥料を入れた月」と「そうでない月」の比較である。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α_i は何を吸収するのか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時間を通じてほぼ変わらない個体差をひとまとめにしたものだ。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0020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土地の質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883664"/>
            <a:ext cx="22677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肥沃さ・日当たり・水はけ。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584448" y="1481328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730752" y="160020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農家の技術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1883664"/>
            <a:ext cx="22677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経験・作業の上手さ・管理能力。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27648" y="1481328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73952" y="160020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設備・機械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3952" y="1883664"/>
            <a:ext cx="226771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もともとの資本装備や倉庫。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70848" y="1481328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217152" y="160020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立地条件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17152" y="1883664"/>
            <a:ext cx="19019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流通条件や固定的な気候差。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" y="3337560"/>
            <a:ext cx="10424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87552" y="3456432"/>
            <a:ext cx="10131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重要な読み方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3739896"/>
            <a:ext cx="1013155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αᵢ は「観測できないから無視する」のではなく、「観測できなくても個体固定効果として吸収する」という扱いである。fixed effects の核心はここにある。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方法 1：個体ダミーを入れる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LSDV は fixed effects を最も素直に書いた形である。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04672" y="1444752"/>
            <a:ext cx="566928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41832" y="1554480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41832" y="1563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LSDV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2132633"/>
            <a:ext cx="5340096" cy="29759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04672" y="3154680"/>
            <a:ext cx="56692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50976" y="3273552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どう読むか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50976" y="3593592"/>
            <a:ext cx="5413248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各農家にダミー変数を入れて、農家ごとの切片差を吸収する。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 は「農家ごとの平均的な生産性の違いを一定としたときの肥料効果」を表す。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6748272" y="1444752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894576" y="1563624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長所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94576" y="1847088"/>
            <a:ext cx="4187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何をコントロールしているかが式から直接見える。各農家に別の基準線があることがそのまま書かれている。</a:t>
            </a:r>
            <a:endParaRPr lang="en-US" sz="1370" dirty="0"/>
          </a:p>
        </p:txBody>
      </p:sp>
      <p:sp>
        <p:nvSpPr>
          <p:cNvPr id="20" name="Shape 17"/>
          <p:cNvSpPr/>
          <p:nvPr/>
        </p:nvSpPr>
        <p:spPr>
          <a:xfrm>
            <a:off x="6748272" y="3035808"/>
            <a:ext cx="448056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894576" y="3154680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短所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94576" y="3438144"/>
            <a:ext cx="418795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個体数が非常に多いと、ダミー変数の数も膨大になる。理屈は分かりやすいが、計算や見た目は必ずしもきれいではない。</a:t>
            </a:r>
            <a:endParaRPr lang="en-US" sz="13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直感：農家ごとに別の切片を持たせる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は「傾きは共通、切片は個体ごと」という見方でも理解できる。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04672" y="1463040"/>
            <a:ext cx="512064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14400" y="1572768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5819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separate intercepts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2436876"/>
            <a:ext cx="4791456" cy="239572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99632" y="1600200"/>
            <a:ext cx="50292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345936" y="1719072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この図が言っていること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45936" y="2002536"/>
            <a:ext cx="4736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単純回帰では全農家に一本の共通切片しかない。FE では農家ごとに基準線を持たせた上で、傾き β を共通に読む。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99632" y="315468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345936" y="3273552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何が消えるか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45936" y="3557016"/>
            <a:ext cx="473659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農家 A がもともと高収量、農家 B がもともと低収量、という水準差は切片で吸収される。残るのは投入量の変化に対応する傾きだけである。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方法 2：within transformation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平均との差を取って αᵢ を直接消す。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04672" y="1481328"/>
            <a:ext cx="42062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41832" y="159105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41832" y="1600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出発点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1949041"/>
            <a:ext cx="3877056" cy="41788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04672" y="2852928"/>
            <a:ext cx="420624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941832" y="296265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41832" y="2971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個体平均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264" y="3469708"/>
            <a:ext cx="3877056" cy="53123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321808" y="1572768"/>
            <a:ext cx="5897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5468112" y="1691640"/>
            <a:ext cx="5605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考え方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68112" y="1975104"/>
            <a:ext cx="56052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各農家について、その農家の平均を計算する。αᵢ は時間不変なので、平均を取っても αᵢ のままである。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321808" y="3154680"/>
            <a:ext cx="589788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/>
          <p:nvPr/>
        </p:nvSpPr>
        <p:spPr>
          <a:xfrm>
            <a:off x="5468112" y="3273552"/>
            <a:ext cx="5605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狙い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468112" y="3557016"/>
            <a:ext cx="56052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元の式から個体平均の式を引けば、時間を通じて一定な αᵢ が機械的に消える。これが within 変換である。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平均との差を引くと αᵢ が消える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最重要ポイントは、個体平均との差に変えると固定効果が消えることだ。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539496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59105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00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平均を取る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972337"/>
            <a:ext cx="5065776" cy="5998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3090672"/>
            <a:ext cx="539496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978408" y="3200400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78408" y="32095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引き算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3844423"/>
            <a:ext cx="5065776" cy="34873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92240" y="1691640"/>
            <a:ext cx="4709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6638544" y="1810512"/>
            <a:ext cx="4416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なぜ消えるのか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38544" y="2093976"/>
            <a:ext cx="441655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αᵢ は t に依存しないので、元の式にも平均の式にも同じ形で現れる。したがって引き算すると完全に相殺される。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492240" y="3474720"/>
            <a:ext cx="47091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/>
          <p:nvPr/>
        </p:nvSpPr>
        <p:spPr>
          <a:xfrm>
            <a:off x="6638544" y="3593592"/>
            <a:ext cx="4416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ここで残るもの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638544" y="3877056"/>
            <a:ext cx="44165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個体平均との差に変換した x と y の共分散だけが β を識別する。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demeaning の意味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各農家について「いつもの水準からどれだけズレたか」だけを見る。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xᵢₜ - x̄_i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20240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今月の肥料投入は、その農家の平均よりどれだけ大きいか。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個体ごとの「肥料の使いがちさ」はここで消える。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4389120" y="1481328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yᵢₜ - ȳ_i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1920240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今月の収穫量は、その農家の平均よりどれだけ大きいか。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個体ごとの「もともとの収量水準」はここで消える。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7936992" y="1481328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直感的な例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1920240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が平均より +2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が平均より +1.5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このズレ同士の関係だけで β を読む</a:t>
            </a:r>
            <a:endParaRPr lang="en-US" sz="13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なぜダミー法と within 法は同じ β になるのか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見た目は違っても、使っている variation は同じである。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54480"/>
            <a:ext cx="475488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66420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73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OLS が選ぶ切片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941" y="1975104"/>
            <a:ext cx="2355494" cy="42062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78892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87552" y="2907792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227832"/>
            <a:ext cx="4498848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ダミー法では、各個体に最適な切片を入れている。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その最適な切片は「各個体平均にぴったり合う」形になる。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それを元の式に代入すると、within 回帰と同じ式が出る。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870448" y="1554480"/>
            <a:ext cx="5358384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016752" y="167335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一致するのはどこか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16752" y="1956816"/>
            <a:ext cx="50657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ダミー変数を入れた回帰の β̂ と、平均との差し引き後の回帰の β̂ が一致する。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870448" y="3108960"/>
            <a:ext cx="5358384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016752" y="322783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言い換え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16752" y="3511296"/>
            <a:ext cx="50657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両者とも「農家間の差を捨てて、農家内の変化だけを使う」という同じ仕事をしている。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固定効果モデルの識別仮定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時間不変の omitted variable には強いが、時間変動する交絡は自動では消えない。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" y="1536192"/>
            <a:ext cx="475488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60120" y="1645920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60120" y="16550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厳密外生性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552" y="2068866"/>
            <a:ext cx="4425696" cy="33368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292608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69264" y="30449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消せるもの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9264" y="3364992"/>
            <a:ext cx="3035808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土地の質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固定的な技術力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変わらない設備差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4315968" y="292608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4462272" y="30449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消せないもの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62272" y="3364992"/>
            <a:ext cx="3035808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異常気象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その年だけの政策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時間とともに変わる omitted variable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7808976" y="2926080"/>
            <a:ext cx="340156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7955280" y="3044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教室での読み方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55280" y="3328416"/>
            <a:ext cx="31089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 は万能な因果推論装置ではない。何を差し引いて、何がまだ残るのかを毎回言語化する必要がある。</a:t>
            </a:r>
            <a:endParaRPr lang="en-US" sz="13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肥料の例で fixed effects がやっていること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between と within で比較対象が切り替わる。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" y="1481328"/>
            <a:ext cx="50292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9264" y="1600200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 の比較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1883664"/>
            <a:ext cx="47365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「農家 A は農家 B より肥料を多く使っている。では収穫量はどうか」という、農家どうしの比較をしてしまう。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50292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69264" y="3364992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の比較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3648456"/>
            <a:ext cx="47365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「農家 A が自分の平均より多く肥料を使った月に、収穫量も自分の平均より高いか」を見る。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481328"/>
            <a:ext cx="5029200" cy="3273552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318504" y="1600200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だから結論は真逆になりうる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18504" y="1920240"/>
            <a:ext cx="477316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全体の散布図では負の相関が見える。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しかし within の比較では正の効果が出る。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これは矛盾ではなく、使っている variation が違うからである。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固定効果の強みと限界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使える問題設定と、使った瞬間に失うものを同時に見る。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002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強み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883664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時間不変の omitted variable を差し引ける。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19088" y="1481328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565392" y="16002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強み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1883664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因果効果を within の言葉で解釈しやすい。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3447288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87552" y="356616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限界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849624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時間不変の説明変数そのものは推定できない。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19088" y="3447288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565392" y="356616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限界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3849624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時間変動する交絡や測定誤差には別の注意が必要。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C"/>
          </a:solidFill>
          <a:ln w="12700">
            <a:solidFill>
              <a:srgbClr val="FFF4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11155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シミュレーションで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fixed effects を数値で確かめる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4672" y="1847088"/>
            <a:ext cx="1554480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04672" y="2029968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 DGP で pooled OLS と FE を並べると、何を回収しているかがはっきり見える。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88352" y="1078992"/>
            <a:ext cx="3977640" cy="44348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552944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この部で押さえること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1682496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43800" y="1691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5008" y="16276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土地の質が交絡をつくる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43800" y="2560320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25694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5008" y="25054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 は符号を外す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43800" y="3438144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543800" y="3447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65008" y="3383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 は within だけを使って正の効果を回復する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シミュレーションの設計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交絡の向きをはっきり埋め込んだ DGP を作る。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04672" y="1463040"/>
            <a:ext cx="512064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14400" y="1572768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5819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DGP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264" y="2511743"/>
            <a:ext cx="4791456" cy="22459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99632" y="1600200"/>
            <a:ext cx="50292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6336792" y="170992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6336792" y="17190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投入量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4224" y="2058251"/>
            <a:ext cx="4700016" cy="43721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99632" y="2880360"/>
            <a:ext cx="50292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6336792" y="299008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6336792" y="29992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収穫量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4224" y="3357265"/>
            <a:ext cx="4700016" cy="39950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199632" y="4224528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6345936" y="4343400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45936" y="4626864"/>
            <a:ext cx="47365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本当の肥料効果 β は正だが、土地の質 L が投入量と収穫量の両方に効くようにしている。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まず pooled OLS を回す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固定的な土地の質を無視すると、係数は大きく歪む。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" y="1572768"/>
            <a:ext cx="393192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60120" y="168249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6012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552" y="2042333"/>
            <a:ext cx="3602736" cy="36846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288036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69264" y="2999232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推定結果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9264" y="3282696"/>
            <a:ext cx="363931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fertilizer の係数は -0.543。真の β = 0.8 と比べると、符号まで逆転している。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10912" y="1572768"/>
            <a:ext cx="6217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157216" y="1691640"/>
            <a:ext cx="5925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なぜこうなるか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157216" y="1975104"/>
            <a:ext cx="59253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土地の質が低い農家ほど肥料を多く使うように作ってあるので、between の比較では「肥料が悪い」ように見えてしまう。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10912" y="3246120"/>
            <a:ext cx="6217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157216" y="3364992"/>
            <a:ext cx="5925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この係数の中身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157216" y="3648456"/>
            <a:ext cx="592531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肥料の真の効果と、土地の質による交絡が混ざっている。pooled OLS は説明変数と omitted variable の相関をそのまま引き受けてしまう。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農家ダミーを入れた FE 回帰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各農家に専用の切片を持たせると、正の効果が回復する。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72768"/>
            <a:ext cx="51206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68249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farm dummies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135643"/>
            <a:ext cx="4791456" cy="2275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907792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87552" y="3026664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推定結果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310128"/>
            <a:ext cx="482803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fertilizer の係数は 0.912。土地の質の固定差を吸収したことで、肥料の正の効果が見えるようになる。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36208" y="1572768"/>
            <a:ext cx="4992624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382512" y="1691640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 での実装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82512" y="1975104"/>
            <a:ext cx="47000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factor(farm_id) を右辺に入れれば、LSDV として推定できる。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36208" y="3127248"/>
            <a:ext cx="4992624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382512" y="3246120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係数の解釈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82512" y="3529584"/>
            <a:ext cx="47000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同じ農家の中で、肥料投入量が増えたときに収穫量がどれだけ増えるか、という within の傾きを読んでいる。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demean した within 回帰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平均との差に変換しても、同じ β が出る。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08760"/>
            <a:ext cx="51206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61848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27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demeaning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113511"/>
            <a:ext cx="4791456" cy="32669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3063240"/>
            <a:ext cx="51206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978408" y="317296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78408" y="31821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within regression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3568" y="3483864"/>
            <a:ext cx="3556000" cy="51206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36208" y="1600200"/>
            <a:ext cx="4992624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6382512" y="1719072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推定結果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82512" y="2002536"/>
            <a:ext cx="4700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fertilizer_dm の係数も 0.912。ダミー法と完全に一致する。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236208" y="3154680"/>
            <a:ext cx="4992624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/>
          <p:nvPr/>
        </p:nvSpPr>
        <p:spPr>
          <a:xfrm>
            <a:off x="6382512" y="3273552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ここで大事なこと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382512" y="3557016"/>
            <a:ext cx="47000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平均との差を取った後のデータでは切片は不要であり、回帰は「ズレどうし」の関係だけを使っている。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3つの係数を並べる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 と FE の違いは、使っている比較対象の違いである。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63040"/>
            <a:ext cx="4800600" cy="4389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50976" y="1572768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5819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coefficient comparison</a:t>
            </a:r>
            <a:endParaRPr lang="en-US" sz="950" dirty="0"/>
          </a:p>
        </p:txBody>
      </p:sp>
      <p:pic>
        <p:nvPicPr>
          <p:cNvPr id="13" name="Image 0" descr="/mnt/data/lecture8_assets/coef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10156"/>
            <a:ext cx="4471416" cy="347776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0" y="1572768"/>
            <a:ext cx="528523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089904" y="1691640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真の値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89904" y="1975104"/>
            <a:ext cx="4992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データ生成では β = 0.8 と置いている。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43600" y="2816352"/>
            <a:ext cx="528523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089904" y="2935224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何が確認できるか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89904" y="3218688"/>
            <a:ext cx="49926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 は大きく下方に歪み、FE with dummies と FE with demeaning は一致して正の効果を回復する。</a:t>
            </a:r>
            <a:endParaRPr lang="en-US" sz="1390" dirty="0"/>
          </a:p>
        </p:txBody>
      </p:sp>
      <p:sp>
        <p:nvSpPr>
          <p:cNvPr id="20" name="Shape 17"/>
          <p:cNvSpPr/>
          <p:nvPr/>
        </p:nvSpPr>
        <p:spPr>
          <a:xfrm>
            <a:off x="5943600" y="4187952"/>
            <a:ext cx="528523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089904" y="4306824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講義で強調したい点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89904" y="4590288"/>
            <a:ext cx="49926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は「うまい回帰式」ではなく、「比較の設計を within に切り替える道具」である。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推定結果をどう読むか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符号が変わったのは、回帰の技術ではなく比較の軸が変わったからである。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7335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pooled 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93392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農家どうしの差を主に使う。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土地の質の違いまで拾う。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肥料が悪いように見えてしまう。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67335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 with dummies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1993392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各農家の切片差を吸収する。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農家内の変動だけで β を読む。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同じ農家の中では正の効果が回復する。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7936992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67335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within regression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1993392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平均との差に変換して同じことをする。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識別に使う variation が FE dummies と同じ。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 β̂ も一致する。</a:t>
            </a:r>
            <a:endParaRPr lang="en-US" sz="13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8"/>
          </a:solidFill>
          <a:ln w="12700">
            <a:solidFill>
              <a:srgbClr val="FFF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11155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short panel と差分回帰：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FE は万能ではない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4672" y="1847088"/>
            <a:ext cx="1554480" cy="0"/>
          </a:xfrm>
          <a:prstGeom prst="line">
            <a:avLst/>
          </a:prstGeom>
          <a:noFill/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04672" y="2029968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個体内比較だけに頼るぶん、T が短いと精度や測定誤差の問題が急に前面に出る。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88352" y="1078992"/>
            <a:ext cx="3977640" cy="44348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B7800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552944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この部で押さえること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1682496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B78008"/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43800" y="1691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5008" y="16276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が短いと within variation が少ない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43800" y="2560320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B78008"/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25694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5008" y="25054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T=2 では FE と差分回帰が一致する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43800" y="3438144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B78008"/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543800" y="3447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65008" y="3383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何を失うかを確認してから使う</a:t>
            </a:r>
            <a:endParaRPr lang="en-US" sz="1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なぜ short panel はつらいのか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 は個体間の差を捨てるので、T が短いと残る情報が少ない。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087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2763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11096"/>
            <a:ext cx="4645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は「個体平均との差」だけで β を識別する。したがって、各個体を 2 期や 3 期しか見ないと、1 個体あたりの usable variation がきわめて少ない。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3154680"/>
            <a:ext cx="4937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87552" y="327355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3593592"/>
            <a:ext cx="4681728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年分あれば「平年より多い年」「かなり少ない年」を豊かに観察できる。</a:t>
            </a:r>
            <a:endParaRPr lang="en-US" sz="1390" dirty="0"/>
          </a:p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期しかなければ、見えるのは 1 期目と 2 期目の差だけである。</a:t>
            </a:r>
            <a:endParaRPr lang="en-US" sz="1390" dirty="0"/>
          </a:p>
        </p:txBody>
      </p:sp>
      <p:sp>
        <p:nvSpPr>
          <p:cNvPr id="16" name="Shape 14"/>
          <p:cNvSpPr/>
          <p:nvPr/>
        </p:nvSpPr>
        <p:spPr>
          <a:xfrm>
            <a:off x="6053328" y="1508760"/>
            <a:ext cx="5175504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199632" y="162763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この先で出る問題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1947672"/>
            <a:ext cx="4919472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個体内変動が乏しい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標準誤差が大きくなりやすい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測定誤差の影響が強まる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動学パネルでは別種のバイアスも出る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実務で前面に出る 3 つの問題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の弱さは、推定量のばらつきとノイズへの脆さとして現れる。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個体内変動が少ない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20240"/>
            <a:ext cx="3172968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学歴や地理条件のように、ほとんど動かない変数は FE では識別が弱い。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そもそも「平均との差」がほぼゼロになるからである。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4389120" y="1481328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標準誤差が大きい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1920240"/>
            <a:ext cx="3172968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between variation を捨てるので、有効な variation が減る。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そのぶん推定値のばらつきも大きくなりやすい。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7936992" y="1481328"/>
            <a:ext cx="3429000" cy="37033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60020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測定誤差に弱い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1920240"/>
            <a:ext cx="3172968" cy="3172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変化だけを見るので、ノイズも差分として強調される。</a:t>
            </a:r>
            <a:endParaRPr lang="en-US" sz="1330" dirty="0"/>
          </a:p>
          <a:p>
            <a:pPr marL="177800" indent="-177800">
              <a:buSzPct val="100000"/>
              <a:buChar char="•"/>
            </a:pPr>
            <a:r>
              <a:rPr lang="en-US" sz="133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本当はほとんど変わらない変数でも、不安定な推定につながる。</a:t>
            </a:r>
            <a:endParaRPr lang="en-US" sz="13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動学パネルでは別のバイアスも出る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ラグ付き被説明変数を入れると、short T では FE 特有の問題が現れる。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64208"/>
            <a:ext cx="429768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77393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783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動学 FE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159508"/>
            <a:ext cx="3968496" cy="3627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3063240"/>
            <a:ext cx="4297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87552" y="3182112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何が起きるか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465576"/>
            <a:ext cx="40050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ラグ付き被説明変数が αᵢ を通じて誤差構造と絡むため、T が短いと FE 推定量は系統的に歪む。これは Nickell bias として知られている。</a:t>
            </a:r>
            <a:endParaRPr lang="en-US" sz="1370" dirty="0"/>
          </a:p>
        </p:txBody>
      </p:sp>
      <p:sp>
        <p:nvSpPr>
          <p:cNvPr id="17" name="Shape 14"/>
          <p:cNvSpPr/>
          <p:nvPr/>
        </p:nvSpPr>
        <p:spPr>
          <a:xfrm>
            <a:off x="5486400" y="1920240"/>
            <a:ext cx="56692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632704" y="2039112"/>
            <a:ext cx="53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この講義での位置づけ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32704" y="2322576"/>
            <a:ext cx="537667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ここでは詳細には扱わないが、「時間不変の交絡を消したから終わり」ではないことを示す代表例として覚えておきたい。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T = 2 なら FE は差分回帰になる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two-period panel では、within と first difference が同じものになる。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63040"/>
            <a:ext cx="384048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57276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581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1期目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934167"/>
            <a:ext cx="3511296" cy="36533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697480"/>
            <a:ext cx="384048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978408" y="280720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78408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2期目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3168607"/>
            <a:ext cx="3511296" cy="36533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983480" y="1783080"/>
            <a:ext cx="6245352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5120640" y="189280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5120640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引き算すると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8072" y="2479371"/>
            <a:ext cx="5916168" cy="372209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983480" y="3611880"/>
            <a:ext cx="624535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5129784" y="3730752"/>
            <a:ext cx="5952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129784" y="4014216"/>
            <a:ext cx="59527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αᵢ は差分で消える。したがって T=2 の FE は、各個体の first difference をとった回帰そのものになる。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差分回帰の直感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各個体について「どれだけ変わったか」どうしを比べる。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45920"/>
            <a:ext cx="384048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75564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7647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結果の差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9284" y="2066544"/>
            <a:ext cx="3264408" cy="4663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880360"/>
            <a:ext cx="384048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978408" y="299008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78408" y="29992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説明変数の差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3306324"/>
            <a:ext cx="3511296" cy="45566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983480" y="1783080"/>
            <a:ext cx="6245352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5120640" y="189280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5120640" y="19019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差分回帰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7444" y="2203704"/>
            <a:ext cx="5297424" cy="6035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983480" y="3337560"/>
            <a:ext cx="62453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5129784" y="3456432"/>
            <a:ext cx="5952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どう読むか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129784" y="3739896"/>
            <a:ext cx="59527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今期は前期に比べて肥料投入量がどれだけ増えたか、そしてそれに対応して収穫量がどれだけ増えたか、だけを見る。時間不変の個体差は差分で消える。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FE と FD の使う情報は少し違う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両者とも時間不変の個体差を除去するが、使う variation は同一ではない。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72768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9164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=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011680"/>
            <a:ext cx="3172968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within 変換と first difference は本質的に同じ。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個体ごとに利用できる情報は一つの差だけ。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4389120" y="1572768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69164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≥ 3 の FE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2011680"/>
            <a:ext cx="3172968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各個体の全期間平均からのズレを使う。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全期間の情報をまとめて使うので、効率的なことが多い。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7936992" y="1572768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69164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≥ 3 の FD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2011680"/>
            <a:ext cx="3172968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隣接時点の変化だけを使う。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レベルではなく変化を直接モデル化したいときに自然。</a:t>
            </a:r>
            <a:endParaRPr lang="en-US" sz="137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どちらが良いかは誤差構造次第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 と FD の優劣は、誤差の動き方とデータの質に依存する。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0020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71907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 が扱いやすいことが多い場面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002536"/>
            <a:ext cx="46451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誤差に強い系列相関がなく、全期間の情報を使って精度を上げたいとき。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333756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87552" y="345643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FD が自然な場面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3739896"/>
            <a:ext cx="46451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誤差がランダムウォーク的に動く場合や、「変化そのもの」をモデル化したい場合。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53328" y="1600200"/>
            <a:ext cx="5175504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199632" y="171907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どちらでも注意すべきこと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2039112"/>
            <a:ext cx="4919472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測定誤差は差分で増幅されやすい。</a:t>
            </a:r>
            <a:endParaRPr lang="en-US" sz="1390" dirty="0"/>
          </a:p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欠損があると差分系列は壊れやすい。</a:t>
            </a:r>
            <a:endParaRPr lang="en-US" sz="1390" dirty="0"/>
          </a:p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どの variation が β を支えているのかを必ず確認する。</a:t>
            </a:r>
            <a:endParaRPr lang="en-US" sz="139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short panel でチェックすべきこと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機械的に FE を回す前に、少なくとも 4 点は確認したい。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5448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7335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十分な within variation はあるか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56816"/>
            <a:ext cx="46451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式を回す前に、この問いを言葉で答えられるかを確認する。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419088" y="155448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565392" y="167335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fixed effects で落ちる変数は何か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1956816"/>
            <a:ext cx="46451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式を回す前に、この問いを言葉で答えられるかを確認する。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841248" y="338328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87552" y="350215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測定誤差や欠損は大きくないか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785616"/>
            <a:ext cx="46451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式を回す前に、この問いを言葉で答えられるかを確認する。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6419088" y="338328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565392" y="350215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誤差の系列相関をどう考えるか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3785616"/>
            <a:ext cx="464515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式を回す前に、この問いを言葉で答えられるかを確認する。</a:t>
            </a:r>
            <a:endParaRPr lang="en-US" sz="13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シミュレーション：T を変えながら FE を繰り返す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が短いとどれだけ不安定になるかを、Monte Carlo で確かめる。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087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2763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47672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真の β = 0.8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 = 30 は固定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= 2, 3, 5, 10, 20, 40 を順に試す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4389120" y="15087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62763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DGP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1947672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各農家に固定効果 αᵢ を持たせる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xᵢₜ は αᵢ と相関するように作る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毎回 FE を推定して係数と SE を保存する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7936992" y="15087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62763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見たいもの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1947672"/>
            <a:ext cx="3172968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mean estimate は 0.8 に近いか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sd estimate は T とともに下がるか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mean SE も同様に下がるか</a:t>
            </a:r>
            <a:endParaRPr lang="en-US" sz="13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T が長いほど推定精度は上がる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平均は真の値に近いまま、ばらつきと標準誤差が縮む。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72768"/>
          <a:ext cx="5212080" cy="3072384"/>
        </p:xfrm>
        <a:graphic>
          <a:graphicData uri="http://schemas.openxmlformats.org/drawingml/2006/table">
            <a:tbl>
              <a:tblPr/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mean estimate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sd estimate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mean SE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0.805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0.241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0.250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0.802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0.168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0.174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0.793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0.129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0.122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0.799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0.0847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0.0814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20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0.799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0.0558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0.0559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40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0.798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0.0398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0.0390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309360" y="1627632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6455664" y="1746504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読み取り 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55664" y="2029968"/>
            <a:ext cx="45994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mean estimate はどの T でもほぼ 0.8 で、FE 自体は大きく外れていない。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9360" y="3154680"/>
            <a:ext cx="4892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455664" y="3273552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読み取り 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55664" y="3557016"/>
            <a:ext cx="45994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が 2 から 40 に増えるにつれて、sd estimate と mean SE は急速に縮んでいく。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0" y="4663440"/>
            <a:ext cx="4892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455664" y="4782312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講義でのメッセージ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55664" y="5065776"/>
            <a:ext cx="4599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の弱点は「バイアス」より「精度不足」として現れやすい。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推定値のばらつきを図で見る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が小さいと、β̂ の分布そのものが広い。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585216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50976" y="1591056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distribution of estimates</a:t>
            </a:r>
            <a:endParaRPr lang="en-US" sz="950" dirty="0"/>
          </a:p>
        </p:txBody>
      </p:sp>
      <p:pic>
        <p:nvPicPr>
          <p:cNvPr id="13" name="Image 0" descr="/mnt/data/lecture8_assets/shortpanel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72056"/>
            <a:ext cx="5522976" cy="36819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949440" y="1664208"/>
            <a:ext cx="427939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7095744" y="178308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図から見えること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95744" y="2066544"/>
            <a:ext cx="39867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破線は真の値 0.8。T = 2 や 3 では箱が広く、外れ値も多い。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949440" y="3246120"/>
            <a:ext cx="427939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7095744" y="3364992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直感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095744" y="3648456"/>
            <a:ext cx="3986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個体あたりの usable variation が少ないので、サンプルごとに β̂ がかなり揺れる。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標準誤差は T とともに下がる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within variation をより多く観察できるほど、推定は精密になる。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548640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50976" y="1591056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average standard error</a:t>
            </a:r>
            <a:endParaRPr lang="en-US" sz="950" dirty="0"/>
          </a:p>
        </p:txBody>
      </p:sp>
      <p:pic>
        <p:nvPicPr>
          <p:cNvPr id="13" name="Image 0" descr="/mnt/data/lecture8_assets/mean_se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69349"/>
            <a:ext cx="5157216" cy="324167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0" y="1664208"/>
            <a:ext cx="46451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729984" y="1783080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図の意味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29984" y="2066544"/>
            <a:ext cx="43525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が増えるにつれて、平均標準誤差は単調に低下していく。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0" y="3337560"/>
            <a:ext cx="464515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729984" y="3456432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教室でのまとめ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29984" y="3739896"/>
            <a:ext cx="43525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 は「個体内比較」によって交絡を減らせる一方、比較に使える情報を削る。だから short panel ではしばしば不精密になる。</a:t>
            </a:r>
            <a:endParaRPr lang="en-US" sz="13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8008"/>
          </a:solidFill>
          <a:ln w="12700">
            <a:solidFill>
              <a:srgbClr val="B780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B78008">
              <a:alpha val="12000"/>
            </a:srgbClr>
          </a:solidFill>
          <a:ln w="12700">
            <a:solidFill>
              <a:srgbClr val="B7800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short panel / 差分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short panel パートの結論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B780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FE を回すだけで安心してはいけない。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64208"/>
            <a:ext cx="3429000" cy="3474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78308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066544"/>
            <a:ext cx="3136392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が短いと、各個体の中で利用できる変化が少ない。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4389120" y="1664208"/>
            <a:ext cx="3429000" cy="3474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78308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2066544"/>
            <a:ext cx="3136392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その結果、推定値は不安定になり、標準誤差も大きくなりやすい。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7936992" y="1664208"/>
            <a:ext cx="3429000" cy="34747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78308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2066544"/>
            <a:ext cx="3136392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差分回帰・TWFE・AKM まで含めて、「何を差し引き、どの variation が残るか」を常に確認する。</a:t>
            </a:r>
            <a:endParaRPr lang="en-US" sz="14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65A30D">
              <a:alpha val="12000"/>
            </a:srgbClr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双子研究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EA"/>
          </a:solidFill>
          <a:ln w="12700">
            <a:solidFill>
              <a:srgbClr val="F4FA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11155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双子データで見る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fixed effects の発想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4672" y="1847088"/>
            <a:ext cx="1554480" cy="0"/>
          </a:xfrm>
          <a:prstGeom prst="line">
            <a:avLst/>
          </a:prstGeom>
          <a:noFill/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04672" y="2029968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教育年数と賃金の関係を、一卵性双生児という「強い比較対象」で読む。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88352" y="1078992"/>
            <a:ext cx="3977640" cy="44348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552944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この部で押さえること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1682496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43800" y="1691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5008" y="16276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通常の OLS では能力や家庭環境が混ざる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43800" y="2560320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25694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5008" y="25054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双子固定効果で共通要因を差し引く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43800" y="3438144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543800" y="3447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65008" y="3383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ただし測定誤差はむしろ深刻になる</a:t>
            </a:r>
            <a:endParaRPr lang="en-US" sz="1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65A30D">
              <a:alpha val="12000"/>
            </a:srgbClr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双子研究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教育収益率を普通に OLS すると何が問題か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賃金と教育年数の相関を、そのまま因果効果とは読めない。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72768"/>
            <a:ext cx="416052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68249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素朴な回帰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071682"/>
            <a:ext cx="3831336" cy="35548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971800"/>
            <a:ext cx="41605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87552" y="309067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u_i に入りそうなもの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410712"/>
            <a:ext cx="3904488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家庭環境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学業への意欲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観測されない人的資本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5285232" y="1572768"/>
            <a:ext cx="5943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431536" y="169164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31536" y="1975104"/>
            <a:ext cx="5650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もし教育年数 S_i がこうした要因と相関しているなら、OLS の β̂ は教育の因果効果ではなく、教育と能力の混合物になる。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285232" y="3401568"/>
            <a:ext cx="5943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431536" y="352044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そこで双子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31536" y="3803904"/>
            <a:ext cx="56509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一卵性双生児なら、遺伝的背景や家庭環境の大部分が共有されている。比較対象を「他人」から「双子のペア」に変えれば、共通要因をかなり差し引ける。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65A30D">
              <a:alpha val="12000"/>
            </a:srgbClr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双子研究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双子固定効果のアイデア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双子ペアごとの α_j を入れると、共通の背景要因を吸収できる。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498348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59105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65A30D">
              <a:alpha val="12000"/>
            </a:srgbClr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00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pair FE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970293"/>
            <a:ext cx="4654296" cy="42110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907792"/>
            <a:ext cx="498348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978408" y="3017520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78408" y="3026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差分で書くと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3528248"/>
            <a:ext cx="4654296" cy="2495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26480" y="1664208"/>
            <a:ext cx="51023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6272784" y="1783080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何が消えるか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272784" y="2066544"/>
            <a:ext cx="48097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双子ペアに共通する能力や家庭環境は α_j として入り、差分をとると消える。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126480" y="3337560"/>
            <a:ext cx="51023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/>
          <p:nvPr/>
        </p:nvSpPr>
        <p:spPr>
          <a:xfrm>
            <a:off x="6272784" y="3456432"/>
            <a:ext cx="4809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 β は何を表すか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272784" y="3739896"/>
            <a:ext cx="48097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同じ双子ペアの中で、教育年数が長い方がどれだけ高い賃金を得ているか、という within-pair の比較を表す。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65A30D">
              <a:alpha val="12000"/>
            </a:srgbClr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双子研究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ただし固定効果では測定誤差が目立つ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差分にすると、教育年数のノイズも差分として前面に出る。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502920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59105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00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観測される教育年数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1121" y="1901952"/>
            <a:ext cx="2909455" cy="51206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852928"/>
            <a:ext cx="50292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87552" y="2971800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attenuation bias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255264"/>
            <a:ext cx="473659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説明変数の中に e_jk が入り、誤差項の中には -β e_jk が入るので、OLS の係数は通常下方に引っ張られる。差分をとるとこの問題はむしろ強く出やすい。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6144768" y="1664208"/>
            <a:ext cx="50840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65A30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291072" y="178308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Ashenfelter &amp; Krueger の工夫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91072" y="2066544"/>
            <a:ext cx="47914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本人報告だけでなく、双子が相手の教育年数を報告した情報も集め、測定誤差を点検している。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3401568"/>
            <a:ext cx="508406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291072" y="352044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この例のメッセージ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91072" y="3803904"/>
            <a:ext cx="47914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は不変の交絡に強いが、ノイズに弱くなることがある。これは short panel の議論ともつながっている。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5A30D"/>
          </a:solidFill>
          <a:ln w="12700">
            <a:solidFill>
              <a:srgbClr val="65A30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65A30D">
              <a:alpha val="12000"/>
            </a:srgbClr>
          </a:solidFill>
          <a:ln w="12700">
            <a:solidFill>
              <a:srgbClr val="65A30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双子研究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ここまでで one-way FE の発想は見えた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65A30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次は「時点共通のショック」も差し引く TWFE に進む。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9164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81051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one-way FE がしていたこと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130552"/>
            <a:ext cx="3172968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農家ごとの固定差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双子ペアごとの固定差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企業ごとの固定差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など、一つの次元の不変要因を吸収する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4389120" y="169164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81051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それでも残るもの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2130552"/>
            <a:ext cx="3172968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景気の年次変動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全国共通ショック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法改正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物価や景況感のような時点共通要因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7936992" y="169164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81051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 の役割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2130552"/>
            <a:ext cx="3172968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 FE に加えて時点 FE も入れる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個人差も年差も差し引く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2×2 では DiD と同じ構造になる</a:t>
            </a:r>
            <a:endParaRPr lang="en-US" sz="13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FF"/>
          </a:solidFill>
          <a:ln w="12700">
            <a:solidFill>
              <a:srgbClr val="F4EE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11155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Two-way Fixed Effects：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個体差と時点差を同時に引く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4672" y="1847088"/>
            <a:ext cx="15544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04672" y="2029968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one-way FE が個体ごとの差を消すのに対し、TWFE は時点共通ショックも差し引く。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88352" y="1078992"/>
            <a:ext cx="3977640" cy="44348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552944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この部で押さえること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1682496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43800" y="1691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5008" y="16276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基本形は y = α + λ + βx + u の形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43800" y="2560320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25694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5008" y="25054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double demeaning が本質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43800" y="3438144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543800" y="3447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65008" y="3383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2×2 では DiD と同じ構造になる</a:t>
            </a:r>
            <a:endParaRPr lang="en-US" sz="1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TWFE の基本形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個体固定効果 αᵢ と時間固定効果 λₜ を同時に入れる。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72768"/>
            <a:ext cx="448056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68249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069797"/>
            <a:ext cx="4151376" cy="35925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907792"/>
            <a:ext cx="44805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87552" y="3026664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記号の意味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346704"/>
            <a:ext cx="4224528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αᵢ: 個体固定効果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λₜ: 時点固定効果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β: 読みたい傾き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u_it: 残差ショック</a:t>
            </a:r>
            <a:endParaRPr lang="en-US" sz="1360" dirty="0"/>
          </a:p>
        </p:txBody>
      </p:sp>
      <p:sp>
        <p:nvSpPr>
          <p:cNvPr id="17" name="Shape 14"/>
          <p:cNvSpPr/>
          <p:nvPr/>
        </p:nvSpPr>
        <p:spPr>
          <a:xfrm>
            <a:off x="5577840" y="1572768"/>
            <a:ext cx="56509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724144" y="1691640"/>
            <a:ext cx="5358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 FE が消すもの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724144" y="1975104"/>
            <a:ext cx="53583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能力・家庭環境・恒常的な企業差など、個体ごとの不変要因。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577840" y="3273552"/>
            <a:ext cx="565099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724144" y="3392424"/>
            <a:ext cx="5358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 FE が消すもの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724144" y="3675888"/>
            <a:ext cx="53583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景気・法改正・インフレ・全国共通ショックなど、その時点に全員へ共通してかかる要因。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TWFE で β を識別しているのは何か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個人差でも年差でもない、二重に残った variation である。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50749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59105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00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double demeaned y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032331"/>
            <a:ext cx="4745736" cy="47990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3090672"/>
            <a:ext cx="507492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978408" y="3200400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78408" y="32095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double demeaned x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3664753"/>
            <a:ext cx="4745736" cy="4337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1691640"/>
            <a:ext cx="501091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6364224" y="1810512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何を引いているか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64224" y="2093976"/>
            <a:ext cx="4718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その人のいつもの水準も、その年の全体的な高さも、両方差し引く。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217920" y="3337560"/>
            <a:ext cx="501091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8"/>
          <p:cNvSpPr/>
          <p:nvPr/>
        </p:nvSpPr>
        <p:spPr>
          <a:xfrm>
            <a:off x="6364224" y="3456432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 β が使うもの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364224" y="3739896"/>
            <a:ext cx="47183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「その人だから高い」「その年だから高い」を除いた後でもなお残る、個人内・時点内の相対的なズレである。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なぜ double demeaning になるのか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個人平均と時間平均を引き、最後に全体平均を戻す。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49377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59105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0F766E">
              <a:alpha val="12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00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個人平均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8166" y="1901952"/>
            <a:ext cx="3963924" cy="4663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697480"/>
            <a:ext cx="49377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978408" y="280720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4C78A8">
              <a:alpha val="12000"/>
            </a:srgbClr>
          </a:solidFill>
          <a:ln w="12700">
            <a:solidFill>
              <a:srgbClr val="4C78A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978408" y="2816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時間平均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3130653"/>
            <a:ext cx="4608576" cy="44124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41248" y="3913632"/>
            <a:ext cx="493776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978408" y="4023360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978408" y="40325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整理すると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" y="4448457"/>
            <a:ext cx="4608576" cy="23794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080760" y="1920240"/>
            <a:ext cx="514807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8"/>
          <p:cNvSpPr/>
          <p:nvPr/>
        </p:nvSpPr>
        <p:spPr>
          <a:xfrm>
            <a:off x="6227064" y="2039112"/>
            <a:ext cx="4855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27064" y="2322576"/>
            <a:ext cx="485546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個人固定効果 αᵢ も時間固定効果 λₜ も、平均との差を二重に取ることで消える。TWFE は結局、double-demeaned した変数どうしの回帰と同じになる。</a:t>
            </a:r>
            <a:endParaRPr lang="en-US" sz="13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直感：one-way FE と TWFE の違い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 は「その年だから高い」をさらに引く。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64208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7830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 FE だけ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4818888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yᵢₜ - ȳ_i を見る。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その人のいつもの水準からどれだけ上か下か、を比較する。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ただし、その年に全員が高かったかどうかはまだ残る。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44768" y="1664208"/>
            <a:ext cx="508406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291072" y="178308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 FE も入れた TWFE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2103120"/>
            <a:ext cx="482803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yᵢₜ - ȳ_i - ȳ_t + ȳ を見る。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その人の水準差も、その年の共通ショックも引く。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残るのは、個人内変化のうち時点共通要因を除いた部分だけ。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2×2 の最小例で見る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最小の世界では、TWFE の中身を手で追える。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571500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50976" y="1591056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2×2 example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727064"/>
            <a:ext cx="5385816" cy="221768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812280" y="1664208"/>
            <a:ext cx="441655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958584" y="1783080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観測値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58584" y="2066544"/>
            <a:ext cx="41239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 A は x が 1→3 に増え、個人 B は 2→2 で変化しない。y はそれに対応して A が 10→16、B が 11→13。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12280" y="3273552"/>
            <a:ext cx="441655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958584" y="3392424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この後すること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58584" y="3675888"/>
            <a:ext cx="41239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個人平均・時間平均・全体平均を計算し、double-demeaned した x と y の関係を見る。</a:t>
            </a:r>
            <a:endParaRPr 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2×2 では TWFE = DiD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この最小例では、double demeaning は差の差と同じ構造になる。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54480"/>
            <a:ext cx="493776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664208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733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差の差で計算すると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230" y="1975104"/>
            <a:ext cx="4157796" cy="64922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3063240"/>
            <a:ext cx="4937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87552" y="318211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何が起きているか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502152"/>
            <a:ext cx="4681728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の before-after から B の before-after を引く。</a:t>
            </a:r>
            <a:endParaRPr lang="en-US" sz="1390" dirty="0"/>
          </a:p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同じことを x についても行う。</a:t>
            </a:r>
            <a:endParaRPr lang="en-US" sz="1390" dirty="0"/>
          </a:p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その比率が β になる。</a:t>
            </a:r>
            <a:endParaRPr lang="en-US" sz="1390" dirty="0"/>
          </a:p>
        </p:txBody>
      </p:sp>
      <p:sp>
        <p:nvSpPr>
          <p:cNvPr id="17" name="Shape 14"/>
          <p:cNvSpPr/>
          <p:nvPr/>
        </p:nvSpPr>
        <p:spPr>
          <a:xfrm>
            <a:off x="6053328" y="1874520"/>
            <a:ext cx="5175504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199632" y="1993392"/>
            <a:ext cx="4882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 DiD とつながる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99632" y="2276856"/>
            <a:ext cx="488289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2×2 の世界では、TWFE は「個体差を引く」「時間差を引く」という二回の差分を回帰で一般化したものだと理解できる。ここが event study や staggered DiD につながる出発点である。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TWFE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「two-way」は時間 × 個人だけではない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固定効果を入れる次元が二つあれば、それは広い意味で two-way FE である。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64208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7830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 1：労働者 FE + 企業 FE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4818888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 = α + ψ + x′β + u の形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賃金を worker component と firm component に分ける。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AKM 分解の基本形。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44768" y="1664208"/>
            <a:ext cx="508406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291072" y="178308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 2：送り手 FE + 受け手 FE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2103120"/>
            <a:ext cx="482803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y_ij = α_i + γ_j + βx_ij + u_ij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貿易・ネットワーク・マッチングデータで使う。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送り手の強さと受け手の魅力を同時に差し引く。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A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D"/>
          </a:solidFill>
          <a:ln w="12700">
            <a:solidFill>
              <a:srgbClr val="EAF7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86384" y="676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11155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AKM 分解：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賃金を worker と firm に分ける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4672" y="1847088"/>
            <a:ext cx="155448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04672" y="2029968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two-way FE の代表的応用として、賃金格差を「人の違い」と「企業の違い」に分解する。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388352" y="1078992"/>
            <a:ext cx="3977640" cy="44348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552944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この部で押さえること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1682496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43800" y="1691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65008" y="162763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基本式は w = α + ψ + x′β + u の形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43800" y="2560320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25694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65008" y="2505456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mover が firm effect をつなぐ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543800" y="3438144"/>
            <a:ext cx="384048" cy="256032"/>
          </a:xfrm>
          <a:prstGeom prst="roundRect">
            <a:avLst>
              <a:gd name="adj" fmla="val 3571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543800" y="34472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65008" y="33832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統計的分解として読み、因果と混同しない</a:t>
            </a:r>
            <a:endParaRPr lang="en-US" sz="1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AKM 分解の基本式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worker FE と firm FE を同時に入れる。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72768"/>
            <a:ext cx="512064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78408" y="1682496"/>
            <a:ext cx="1280160" cy="237744"/>
          </a:xfrm>
          <a:prstGeom prst="roundRect">
            <a:avLst>
              <a:gd name="adj" fmla="val 38462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78408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AKM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051757"/>
            <a:ext cx="4791456" cy="44105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41248" y="2999232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987552" y="3118104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どう読むか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438144"/>
            <a:ext cx="4864608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αᵢ: 労働者に固有の恒常成分</a:t>
            </a:r>
            <a:endParaRPr lang="en-US" sz="1390" dirty="0"/>
          </a:p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ψ_j: 企業に固有の賃金プレミアム</a:t>
            </a:r>
            <a:endParaRPr lang="en-US" sz="1390" dirty="0"/>
          </a:p>
          <a:p>
            <a:pPr marL="177800" indent="-177800">
              <a:buSzPct val="100000"/>
              <a:buChar char="•"/>
            </a:pPr>
            <a:r>
              <a:rPr lang="en-US" sz="139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xᵢₜ: 観測可能な属性</a:t>
            </a:r>
            <a:endParaRPr lang="en-US" sz="1390" dirty="0"/>
          </a:p>
        </p:txBody>
      </p:sp>
      <p:sp>
        <p:nvSpPr>
          <p:cNvPr id="17" name="Shape 14"/>
          <p:cNvSpPr/>
          <p:nvPr/>
        </p:nvSpPr>
        <p:spPr>
          <a:xfrm>
            <a:off x="6236208" y="1737360"/>
            <a:ext cx="499262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382512" y="1856232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82512" y="2139696"/>
            <a:ext cx="47000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賃金格差のどれくらいが worker effect で、どれくらいが firm effect なのかを分けて見る。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36208" y="3401568"/>
            <a:ext cx="499262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6382512" y="3520440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DiD 型の TWFE との違い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82512" y="3803904"/>
            <a:ext cx="47000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ここで関心があるのは β だけではなく、固定効果それ自体の分布と相関である。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αᵢ と ψⱼ は何を表すのか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worker effect と firm effect は、賃金の異質性を切り分けるための成分である。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64208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7830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労働者固定効果 αᵢ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4818888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能力・経験・人的資本・交渉力のような、労働者に固有で比較的恒常的な成分。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どの企業で働いても持ち込む賃金水準、と読める。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44768" y="1664208"/>
            <a:ext cx="5084064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291072" y="178308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企業固定効果 ψⱼ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2103120"/>
            <a:ext cx="482803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賃金プレミアム・労働条件・労使慣行・利潤率の差など、企業側の恒常成分。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同じような労働者でも、企業によって賃金が系統的に違う部分を表す。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なぜ mover が重要なのか・connected set とは何か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worker effect と firm effect を分けるには、企業間をまたぐ移動が必要である。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481328"/>
            <a:ext cx="548640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950976" y="1591056"/>
            <a:ext cx="1920240" cy="219456"/>
          </a:xfrm>
          <a:prstGeom prst="roundRect">
            <a:avLst>
              <a:gd name="adj" fmla="val 41667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600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mover network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2542474"/>
            <a:ext cx="5157216" cy="249542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583680" y="1664208"/>
            <a:ext cx="464515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729984" y="1783080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mover が識別をつくる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29984" y="2066544"/>
            <a:ext cx="43525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同じ労働者が firm 1 から firm 2 に移ると、賃金変化から ψ₂ - ψ₁ について情報が得られる。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0" y="3273552"/>
            <a:ext cx="464515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729984" y="3392424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connected 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29984" y="3675888"/>
            <a:ext cx="435254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もし A・B と C・D の企業群の間で移動が一度もなければ、その二つのグループの firm effect は水準比較できない。実証では最大連結成分で推定することが多い。</a:t>
            </a:r>
            <a:endParaRPr lang="en-US" sz="138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AKM で分かることと、言いすぎてはいけないこと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統計的分解としては強力だが、そのまま純粋な因果効果ではない。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664208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78308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分かること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3172968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worker effect の分散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firm effect の分散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worker–firm sorting の強さ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4389120" y="1664208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535424" y="178308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注意点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2103120"/>
            <a:ext cx="3172968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firm effect をそのまま「入社したら必ず上がる賃金効果」とは読めない。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マッチの質や選択が混ざりうる。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36992" y="1664208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083296" y="1783080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後続研究の方向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3296" y="2103120"/>
            <a:ext cx="3172968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limited mobility bias の補正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grouped fixed effects など低次元化</a:t>
            </a:r>
            <a:endParaRPr lang="en-US" sz="1380" dirty="0"/>
          </a:p>
          <a:p>
            <a:pPr marL="177800" indent="-177800">
              <a:buSzPct val="100000"/>
              <a:buChar char="•"/>
            </a:pPr>
            <a:r>
              <a:rPr lang="en-US" sz="138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connected set の扱いの改善</a:t>
            </a:r>
            <a:endParaRPr lang="en-US" sz="138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646480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｜ Lecture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951415" y="164592"/>
            <a:ext cx="1508760" cy="256032"/>
          </a:xfrm>
          <a:prstGeom prst="roundRect">
            <a:avLst>
              <a:gd name="adj" fmla="val 35714"/>
            </a:avLst>
          </a:prstGeom>
          <a:solidFill>
            <a:srgbClr val="0C2845">
              <a:alpha val="12000"/>
            </a:srgbClr>
          </a:solidFill>
          <a:ln w="12700">
            <a:solidFill>
              <a:srgbClr val="0C284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951415" y="1737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28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533327" y="6455664"/>
            <a:ext cx="2926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108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F172A"/>
                </a:solidFill>
                <a:latin typeface="Noto Serif CJK JP" pitchFamily="34" charset="0"/>
                <a:ea typeface="Noto Serif CJK JP" pitchFamily="34" charset="-122"/>
                <a:cs typeface="Noto Serif CJK JP" pitchFamily="34" charset="-120"/>
              </a:rPr>
              <a:t>今日の講義のまとめ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02920" y="694944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C284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 effects は「何を差し引いているか」で整理すると一つにつながる。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41248" y="155448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87552" y="16733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パネルデータ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56816"/>
            <a:ext cx="240487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同じ個体を繰り返し観測することで、within 比較を作れる。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3685032" y="155448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4C78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831336" y="16733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C78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one-way FE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31336" y="1956816"/>
            <a:ext cx="240487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個体ごとの不変要因 αᵢ を差し引き、個体内変化だけで β を読む。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528816" y="1554480"/>
            <a:ext cx="2697480" cy="3611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675120" y="167335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short panel / FD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1956816"/>
            <a:ext cx="240487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が短いと variation が乏しく、不精密・測定誤差・動学バイアスに注意が要る。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9372600" y="1554480"/>
            <a:ext cx="192024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518904" y="16733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TWFE / AKM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18904" y="1956816"/>
            <a:ext cx="162763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時点 FE や企業 FE を足すと、two-way FE の世界へ広がる。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7824" y="5486400"/>
            <a:ext cx="10469880" cy="292608"/>
          </a:xfrm>
          <a:prstGeom prst="roundRect">
            <a:avLst>
              <a:gd name="adj" fmla="val 28125"/>
            </a:avLst>
          </a:prstGeom>
          <a:solidFill>
            <a:srgbClr val="FFFD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77824" y="5486400"/>
            <a:ext cx="128016" cy="292608"/>
          </a:xfrm>
          <a:prstGeom prst="rect">
            <a:avLst/>
          </a:prstGeom>
          <a:solidFill>
            <a:srgbClr val="0C2845"/>
          </a:solidFill>
          <a:ln w="12700">
            <a:solidFill>
              <a:srgbClr val="0C28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97280" y="5500116"/>
            <a:ext cx="101772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比較の軸を between から within へ切り替える。そのうえで、何が消え、何がまだ残るかを毎回言葉で確認する。</a:t>
            </a:r>
            <a:endParaRPr lang="en-US" sz="13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7810</Words>
  <Application>Microsoft Macintosh PowerPoint</Application>
  <PresentationFormat>ワイド画面</PresentationFormat>
  <Paragraphs>963</Paragraphs>
  <Slides>62</Slides>
  <Notes>62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62</vt:i4>
      </vt:variant>
    </vt:vector>
  </HeadingPairs>
  <TitlesOfParts>
    <vt:vector size="66" baseType="lpstr">
      <vt:lpstr>Noto Sans CJK JP</vt:lpstr>
      <vt:lpstr>Noto Serif CJK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8：固定効果モデル</dc:title>
  <dc:subject>Lecture 8: Fixed effects models</dc:subject>
  <dc:creator>OpenAI</dc:creator>
  <cp:lastModifiedBy>池上　慧</cp:lastModifiedBy>
  <cp:revision>2</cp:revision>
  <dcterms:created xsi:type="dcterms:W3CDTF">2026-03-16T07:27:37Z</dcterms:created>
  <dcterms:modified xsi:type="dcterms:W3CDTF">2026-03-16T08:27:33Z</dcterms:modified>
</cp:coreProperties>
</file>