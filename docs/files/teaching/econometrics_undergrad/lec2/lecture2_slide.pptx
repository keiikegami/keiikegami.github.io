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</p:sldIdLst>
  <p:notesMasterIdLst>
    <p:notesMasterId r:id="rId8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9" Type="http://schemas.openxmlformats.org/officeDocument/2006/relationships/presProps" Target="presProps.xml"/><Relationship Id="rId90" Type="http://schemas.openxmlformats.org/officeDocument/2006/relationships/viewProps" Target="viewProps.xml"/><Relationship Id="rId91" Type="http://schemas.openxmlformats.org/officeDocument/2006/relationships/theme" Target="theme/theme1.xml"/><Relationship Id="rId9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
- Generated chart from simulation code in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
- Generated chart from simulation code in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
- Generated chart from numbers reported in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
- Generated chart from numbers reported in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
- Generated chart from Wald estimate and standard error reported in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
- User-provided image: AK_tableIII.png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
- User-provided image: AK_tableIII.png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lecture note: lecture2_revised.qmd / lecture2_revised.html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svg"/><Relationship Id="rId3" Type="http://schemas.openxmlformats.org/officeDocument/2006/relationships/image" Target="../media/image-76-3.png"/><Relationship Id="rId4" Type="http://schemas.openxmlformats.org/officeDocument/2006/relationships/image" Target="../media/image-76-4.svg"/><Relationship Id="rId5" Type="http://schemas.openxmlformats.org/officeDocument/2006/relationships/image" Target="../media/image-76-5.png"/><Relationship Id="rId6" Type="http://schemas.openxmlformats.org/officeDocument/2006/relationships/image" Target="../media/image-7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svg"/><Relationship Id="rId3" Type="http://schemas.openxmlformats.org/officeDocument/2006/relationships/image" Target="../media/image-79-3.png"/><Relationship Id="rId4" Type="http://schemas.openxmlformats.org/officeDocument/2006/relationships/image" Target="../media/image-79-4.svg"/><Relationship Id="rId5" Type="http://schemas.openxmlformats.org/officeDocument/2006/relationships/image" Target="../media/image-79-5.png"/><Relationship Id="rId6" Type="http://schemas.openxmlformats.org/officeDocument/2006/relationships/image" Target="../media/image-7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image" Target="../media/image-80-3.png"/><Relationship Id="rId4" Type="http://schemas.openxmlformats.org/officeDocument/2006/relationships/image" Target="../media/image-8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896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14173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モデルと計量経済学の3ステップ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識別・推定・推論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" y="3154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D9E2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Model ・ Identification ・ Estimation ・ Inference</a:t>
            </a:r>
            <a:endParaRPr lang="en-US" sz="1480" dirty="0"/>
          </a:p>
        </p:txBody>
      </p:sp>
      <p:sp>
        <p:nvSpPr>
          <p:cNvPr id="6" name="Shape 4"/>
          <p:cNvSpPr/>
          <p:nvPr/>
        </p:nvSpPr>
        <p:spPr>
          <a:xfrm>
            <a:off x="804672" y="3712464"/>
            <a:ext cx="2743200" cy="0"/>
          </a:xfrm>
          <a:prstGeom prst="line">
            <a:avLst/>
          </a:prstGeom>
          <a:noFill/>
          <a:ln w="2794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69080"/>
            <a:ext cx="7498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キーメッセージ：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計量経済学は、見えているデータから「知りたいパラメータ」を取り出し、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その不確実性まで含めて整理する学問である。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11119104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5D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この講義で最初に押さえたい3つ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 全体の地図を先に置く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A7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691640"/>
            <a:ext cx="340766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691640"/>
            <a:ext cx="128016" cy="25603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1856232"/>
            <a:ext cx="309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モデル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14984" y="2221992"/>
            <a:ext cx="306019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変数どうしの関係を記述する土台。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式・分布・生成過程を含む。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22648" y="1691640"/>
            <a:ext cx="340766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22648" y="1691640"/>
            <a:ext cx="128016" cy="25603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0392" y="1856232"/>
            <a:ext cx="309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3ステップ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60392" y="2221992"/>
            <a:ext cx="306019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識別・推定・推論。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何を知りたいか、どう計算するか、どこまで信じるか。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068056" y="1691640"/>
            <a:ext cx="3407664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68056" y="1691640"/>
            <a:ext cx="128016" cy="2560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5800" y="1856232"/>
            <a:ext cx="3096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学部レベルの重点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305800" y="2221992"/>
            <a:ext cx="306019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特に重要なのは、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「何をパラメータとして置き、どう識別するか」。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 lecture では、Lecture 1 の「教育年数と賃金」を例に、モデルから推論まで一気に見渡す。</a:t>
            </a:r>
            <a:endParaRPr lang="en-US" sz="13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 の見取り図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まずモデル、そのあと識別・推定・推論へ進む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A7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554480"/>
            <a:ext cx="10241280" cy="2651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4572000"/>
            <a:ext cx="251688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4572000"/>
            <a:ext cx="128016" cy="80467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47365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1060704" y="5102352"/>
            <a:ext cx="216941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世界をどう書くか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504438" y="4572000"/>
            <a:ext cx="251688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04438" y="4572000"/>
            <a:ext cx="128016" cy="80467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2182" y="47365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3742182" y="5102352"/>
            <a:ext cx="216941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欲しいパラメータを取り出せるか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85916" y="4572000"/>
            <a:ext cx="251688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85916" y="4572000"/>
            <a:ext cx="128016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3660" y="47365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6423660" y="5102352"/>
            <a:ext cx="216941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データをパラメータに変換する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867394" y="4572000"/>
            <a:ext cx="251688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867394" y="4572000"/>
            <a:ext cx="128016" cy="804672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05138" y="47365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1520" dirty="0"/>
          </a:p>
        </p:txBody>
      </p:sp>
      <p:sp>
        <p:nvSpPr>
          <p:cNvPr id="27" name="Text 24"/>
          <p:cNvSpPr/>
          <p:nvPr/>
        </p:nvSpPr>
        <p:spPr>
          <a:xfrm>
            <a:off x="9105138" y="5102352"/>
            <a:ext cx="216941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推定値の不確実性を測る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今日の流れ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1枚1メッセージで少しずつ組み立てる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A7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導入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536192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1536192"/>
            <a:ext cx="128016" cy="129844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70078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モデルとは何か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78992" y="2066544"/>
            <a:ext cx="463600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変数・パラメータ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条件付き分布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536192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536192"/>
            <a:ext cx="128016" cy="1298448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70078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計量経済学の目的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92824" y="2066544"/>
            <a:ext cx="463600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見えているデータから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モデルの細部へ近づく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312724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127248"/>
            <a:ext cx="128016" cy="129844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29184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識別と推定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078992" y="3657600"/>
            <a:ext cx="463600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β₁ をどう識別し、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どう計算するか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12724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3127248"/>
            <a:ext cx="128016" cy="129844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92824" y="329184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推論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592824" y="3657600"/>
            <a:ext cx="463600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標準誤差・t 検定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信頼区間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例として最後まで使うのは、Lecture 1 の教育年数と賃金の話である。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A7A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出発点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識別・推定・推論に入る前に、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まず「モデル」という土台を置く。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9536" y="39136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 lecture では、モデルを「条件付き分布の束」として捉える。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49808" y="1024128"/>
            <a:ext cx="2194560" cy="0"/>
          </a:xfrm>
          <a:prstGeom prst="line">
            <a:avLst/>
          </a:prstGeom>
          <a:noFill/>
          <a:ln w="27940">
            <a:solidFill>
              <a:srgbClr val="4F7C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856232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29077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変数・パラメータ・条件付き分布・シミュレーション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5D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まずは例を一つ固定する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教育年数と賃金の関係を考えるシンプルなモデル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9164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691640"/>
            <a:ext cx="128016" cy="13258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85623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106424" y="2221992"/>
            <a:ext cx="230428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観測されない要因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高いほど schooling も wage も上がりやすい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91640"/>
            <a:ext cx="128016" cy="13258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85623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901184" y="2221992"/>
            <a:ext cx="21214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個人が選ぶ変数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賃金の決定に入りうる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1691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691640"/>
            <a:ext cx="128016" cy="1325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58784" y="185623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558784" y="2221992"/>
            <a:ext cx="21214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結果として観測される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最終的に知りたいアウトカム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11880" y="2350008"/>
            <a:ext cx="914400" cy="0"/>
          </a:xfrm>
          <a:prstGeom prst="line">
            <a:avLst/>
          </a:prstGeom>
          <a:noFill/>
          <a:ln w="27940">
            <a:solidFill>
              <a:srgbClr val="E27D6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11880" y="2350008"/>
            <a:ext cx="4434840" cy="0"/>
          </a:xfrm>
          <a:prstGeom prst="line">
            <a:avLst/>
          </a:prstGeom>
          <a:noFill/>
          <a:ln w="27940">
            <a:solidFill>
              <a:srgbClr val="E27D6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69480" y="2350008"/>
            <a:ext cx="877824" cy="0"/>
          </a:xfrm>
          <a:prstGeom prst="line">
            <a:avLst/>
          </a:prstGeom>
          <a:noFill/>
          <a:ln w="27940">
            <a:solidFill>
              <a:srgbClr val="4F7CA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この段階での重要点は、能力が教育年数にも賃金にも入っていること。</a:t>
            </a:r>
            <a:endParaRPr lang="en-US" sz="13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このモデルから見える素朴な散布図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教育年数と賃金のあいだには正の傾きが見える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900" dirty="0"/>
          </a:p>
        </p:txBody>
      </p:sp>
      <p:pic>
        <p:nvPicPr>
          <p:cNvPr id="11" name="Image 0" descr="/mnt/data/lecture2_slide_assets/naive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97205"/>
            <a:ext cx="6583680" cy="384880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26680" y="1783080"/>
            <a:ext cx="3474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26680" y="1783080"/>
            <a:ext cx="128016" cy="102412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64424" y="194767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見えるもの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64424" y="2313432"/>
            <a:ext cx="312724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教育年数が長いほど賃金も高そう、というパターン。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726680" y="2990088"/>
            <a:ext cx="3474720" cy="1124712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26680" y="2990088"/>
            <a:ext cx="128016" cy="112471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64424" y="315468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まだ見えないもの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964424" y="3520440"/>
            <a:ext cx="3127248" cy="4663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その傾きが「教育の効果」なのか、「能力が混ざった結果」なのかは、この図だけではわからない。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7726680" y="4370832"/>
            <a:ext cx="3474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26680" y="4370832"/>
            <a:ext cx="128016" cy="10241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64424" y="4535424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ここが計量経済学の出発点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964424" y="4901184"/>
            <a:ext cx="312724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見えている相関を、知りたいパラメータへどうつなぐか。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散布図から読めることと、読めないこと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同じ図でも、問いによって見方が変わる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783080"/>
            <a:ext cx="128016" cy="21945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4767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読めること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42416" y="2313432"/>
            <a:ext cx="4773168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正の相関がある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平均的には右上がり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回帰線を引くことはできる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1783080"/>
            <a:ext cx="128016" cy="219456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194767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読めないこと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83096" y="2313432"/>
            <a:ext cx="4773168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β₁ がいくつか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相関のどこまでが教育の効果か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見えていない能力がどう混ざるか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「図がある」ことと、「知りたいパラメータがわかる」ことは別である。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モデルの構成要素：変数とパラメータ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この区別がつくと、何を知りたいのかがはっきりする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509320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783080"/>
            <a:ext cx="128016" cy="22860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4767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変数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0704" y="2313432"/>
            <a:ext cx="4745736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個人ごとに値が変わるもの。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Sᵢ, Wᵢ, aᵢ のように i とともに動く。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509320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45352" y="1783080"/>
            <a:ext cx="128016" cy="22860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3096" y="1947672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パラメータ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83096" y="2313432"/>
            <a:ext cx="4745736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関係の強さを表す固定された数。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α₀, α₁, β₀, β₁, β₂ のような共通の定数。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モデルを見るときは、「人ごとに変わるもの」と「モデル全体で固定されているもの」をまず分ける。</a:t>
            </a:r>
            <a:endParaRPr lang="en-US" sz="13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この例で使う変数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 i ごとに異なる値をとるもの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3215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828800"/>
            <a:ext cx="128016" cy="19659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93392"/>
            <a:ext cx="290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Sᵢ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2359152"/>
            <a:ext cx="2868168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schooling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04360" y="1828800"/>
            <a:ext cx="3215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04360" y="1828800"/>
            <a:ext cx="128016" cy="19659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2104" y="1993392"/>
            <a:ext cx="290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Wᵢ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42104" y="2359152"/>
            <a:ext cx="2868168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40040" y="1828800"/>
            <a:ext cx="3215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40040" y="1828800"/>
            <a:ext cx="128016" cy="196596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7784" y="1993392"/>
            <a:ext cx="290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aᵢ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177784" y="2359152"/>
            <a:ext cx="2868168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観測されない要因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6112" y="4572000"/>
            <a:ext cx="10314432" cy="841248"/>
          </a:xfrm>
          <a:prstGeom prst="roundRect">
            <a:avLst>
              <a:gd name="adj" fmla="val 8696"/>
            </a:avLst>
          </a:prstGeom>
          <a:solidFill>
            <a:srgbClr val="FDFEFE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572000"/>
            <a:ext cx="128016" cy="84124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4736592"/>
            <a:ext cx="10003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共通点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33856" y="5102352"/>
            <a:ext cx="9966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どれも i が変わると値が変わる。だから「個体差をもつ量」として扱う。</a:t>
            </a:r>
            <a:endParaRPr lang="en-US" sz="14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この例のモデル式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潜在教育年数の式と、賃金の式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5544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554480"/>
            <a:ext cx="128016" cy="18288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7190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教育年数の生成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084832"/>
            <a:ext cx="4636008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能力が高いほど schooling が長くなりやすい。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さらにノイズが入る。</a:t>
            </a:r>
            <a:endParaRPr lang="en-US" sz="142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331720"/>
            <a:ext cx="4297680" cy="4114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2761488"/>
            <a:ext cx="4617720" cy="42062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63640" y="1554480"/>
            <a:ext cx="4983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63640" y="1554480"/>
            <a:ext cx="128016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01384" y="17190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賃金の生成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01384" y="2084832"/>
            <a:ext cx="4636008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教育年数と能力の両方が賃金に入る。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さらにノイズが入る。</a:t>
            </a:r>
            <a:endParaRPr lang="en-US" sz="142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240" y="2496312"/>
            <a:ext cx="4526280" cy="43891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5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この時点で β₁ = 0.08 が「教育 1 年の効果」として埋め込まれている。</a:t>
            </a:r>
            <a:endParaRPr lang="en-US" sz="139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教育年数の式の読み方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Sᵢ* = 13.5 + 1.2 aᵢ + uᵢ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3377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783080"/>
            <a:ext cx="128016" cy="24688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13.5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42416" y="2313432"/>
            <a:ext cx="302971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能力もノイズも 0 のときの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ベースライン。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19600" y="1783080"/>
            <a:ext cx="3377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9600" y="1783080"/>
            <a:ext cx="128016" cy="24688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344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1.2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57344" y="2313432"/>
            <a:ext cx="302971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能力が 1 高いと、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潜在教育年数が平均 1.2 高くなる。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034528" y="1783080"/>
            <a:ext cx="3377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4528" y="1783080"/>
            <a:ext cx="128016" cy="24688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2272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uᵢ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272272" y="2313432"/>
            <a:ext cx="302971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 0 のノイズ。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教育年数にランダムなばらつきを与える。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能力だけでは schooling は決まり切らず、ノイズによって同じ能力でも教育年数は揺れる。</a:t>
            </a:r>
            <a:endParaRPr lang="en-US" sz="13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賃金の式の読み方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Wᵢ = 10.0 + 0.08 Sᵢ + 0.25 aᵢ + εᵢ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3377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783080"/>
            <a:ext cx="128016" cy="24688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10.0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42416" y="2313432"/>
            <a:ext cx="302971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賃金のベースライン。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19600" y="1783080"/>
            <a:ext cx="3377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9600" y="1783080"/>
            <a:ext cx="128016" cy="2468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344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0.08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57344" y="2313432"/>
            <a:ext cx="302971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教育年数が 1 年長いと、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賃金が平均 0.08 上がる。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034528" y="1783080"/>
            <a:ext cx="337718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4528" y="1783080"/>
            <a:ext cx="128016" cy="24688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2272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0.25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272272" y="2313432"/>
            <a:ext cx="302971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能力が 1 高いと、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賃金が平均 0.25 上がる。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この例では、能力の直接効果も賃金に入っている。これが後で重要になる。</a:t>
            </a:r>
            <a:endParaRPr lang="en-US" sz="13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一般形で書くと、何がパラメータかがはっきりする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数値を外して構造だけを見る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55448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554480"/>
            <a:ext cx="128016" cy="20116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719072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06424" y="2084832"/>
            <a:ext cx="4590288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S_i^* = α_0 + α_1 a_i + u_i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55080" y="155448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554480"/>
            <a:ext cx="128016" cy="2011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719072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92824" y="2084832"/>
            <a:ext cx="4590288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W_i = β_0 + β_1 S_i + β_2 a_i + ε_i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14400" y="4160520"/>
            <a:ext cx="10287000" cy="1115568"/>
          </a:xfrm>
          <a:prstGeom prst="roundRect">
            <a:avLst>
              <a:gd name="adj" fmla="val 6557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60520"/>
            <a:ext cx="128016" cy="11155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325112"/>
            <a:ext cx="9976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今回の設定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2144" y="4690872"/>
            <a:ext cx="993952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α₀ = 13.5, α₁ = 1.2, β₀ = 10.0, β₁ = 0.08, β₂ = 0.25 としてシミュレーションしている。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ここで最重要なのは、能力が両方に入っていること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aᵢ は schooling にも wage にも効いている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755648"/>
            <a:ext cx="4480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755648"/>
            <a:ext cx="128016" cy="192024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20240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経路 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144" y="2286000"/>
            <a:ext cx="4133088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aᵢ → Sᵢ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能力が高いほど教育年数が長くなりやすい。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20840" y="1755648"/>
            <a:ext cx="4480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20840" y="1755648"/>
            <a:ext cx="128016" cy="192024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58584" y="1920240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経路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58584" y="2286000"/>
            <a:ext cx="4133088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aᵢ → Wᵢ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能力が高いほど賃金も高くなりやすい。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40680" y="2724912"/>
            <a:ext cx="98755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したがって、教育年数と賃金の相関には「教育の効果」と「能力を通じた関係」が混ざりうる。</a:t>
            </a:r>
            <a:endParaRPr lang="en-US" sz="13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教育年数がランダムではない、ということ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高賃金の人がたまたま長く学校にいた、ではないかもしれない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51435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783080"/>
            <a:ext cx="128016" cy="22402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47672"/>
            <a:ext cx="4832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単純な見方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42416" y="2313432"/>
            <a:ext cx="4796028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教育年数が長い人の賃金が高い。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だから教育が効いた、と言いたくなる。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268212" y="1783080"/>
            <a:ext cx="51435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8212" y="1783080"/>
            <a:ext cx="128016" cy="22402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1947672"/>
            <a:ext cx="4832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しかし実際には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505956" y="2313432"/>
            <a:ext cx="4796028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もともと能力が高い人ほど schooling も wage も高くなりやすい。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ここで必要になるのが、「相関」ではなく「パラメータ β₁」を取り出す発想である。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式を見るときの読み方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何が i とともに変わり、何が固定か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91640"/>
            <a:ext cx="4983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691640"/>
            <a:ext cx="128016" cy="24688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85623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変数として読む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221992"/>
            <a:ext cx="4636008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Sᵢ, Wᵢ, aᵢ は個人ごとに異なる。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同じ式の中に出てきても、i がつくものは個体差を表している。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327648" y="1691640"/>
            <a:ext cx="4983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691640"/>
            <a:ext cx="128016" cy="24688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85623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パラメータとして読む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2221992"/>
            <a:ext cx="4636008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α₀, α₁, β₀, β₁, β₂ はモデル全体で共通。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知りたいのは、この「固定された関係の強さ」である。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計量経済学は、見えている変数から見えていないパラメータへ近づく学問だと捉えると整理しやすい。</a:t>
            </a:r>
            <a:endParaRPr lang="en-US" sz="139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 lecture での一言定義：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モデルとは「条件付き分布の束」である。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9536" y="39136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一つの式ではなく、複数の条件付き分布をまとめて一つのモデルと考える。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最初の条件付き分布：S |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能力を与えると、教育年数の分布が決まる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783080"/>
            <a:ext cx="5486400" cy="502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03720" y="155448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03720" y="1554480"/>
            <a:ext cx="128016" cy="20116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41464" y="1719072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意味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141464" y="2084832"/>
            <a:ext cx="3950208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aᵢ が固定されても、uᵢ が毎回違うので、毎回同じ schooling になるとは限らない。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960120" y="2971800"/>
            <a:ext cx="10241280" cy="987552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60120" y="2971800"/>
            <a:ext cx="128016" cy="98755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97864" y="31363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97864" y="3502152"/>
            <a:ext cx="989380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「能力を条件とした schooling の分布」が一つ定まる。これを F(S | aᵢ = c) のように書く。</a:t>
            </a:r>
            <a:endParaRPr lang="en-US" sz="14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同じ能力でも、繰り返すと schooling は揺れる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条件付き分布は「何度も取り直したらどうなるか」を表している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83080"/>
            <a:ext cx="33162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1783080"/>
            <a:ext cx="128016" cy="19659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47672"/>
            <a:ext cx="300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能力を固定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78992" y="2313432"/>
            <a:ext cx="2968752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たとえば a = 0 と決める。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95216" y="1783080"/>
            <a:ext cx="33162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95216" y="1783080"/>
            <a:ext cx="128016" cy="19659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2960" y="1947672"/>
            <a:ext cx="300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ノイズを何度も引く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32960" y="2313432"/>
            <a:ext cx="2968752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 を毎回引き直す。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49184" y="1783080"/>
            <a:ext cx="331622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49184" y="1783080"/>
            <a:ext cx="128016" cy="196596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6928" y="1947672"/>
            <a:ext cx="3005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schooling を記録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186928" y="2313432"/>
            <a:ext cx="2968752" cy="1307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出てきた値の分布を見る。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この「繰り返しサンプリング」の考え方が、分布としてモデルを見る感覚につながる。</a:t>
            </a:r>
            <a:endParaRPr lang="en-US" sz="139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= 0 に固定したときの schooling の分布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能力を固定しても、ノイズでばらつく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22</a:t>
            </a:r>
            <a:endParaRPr lang="en-US" sz="900" dirty="0"/>
          </a:p>
        </p:txBody>
      </p:sp>
      <p:pic>
        <p:nvPicPr>
          <p:cNvPr id="11" name="Image 0" descr="/mnt/data/lecture2_slide_assets/schooling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4545"/>
            <a:ext cx="6720840" cy="39289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0" y="182880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0" y="1828800"/>
            <a:ext cx="128016" cy="10972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1584" y="199339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 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01584" y="2359152"/>
            <a:ext cx="299008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分布の中心は 13〜14 年付近にある。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863840" y="315468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0" y="3154680"/>
            <a:ext cx="128016" cy="10972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01584" y="331927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 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01584" y="3685032"/>
            <a:ext cx="2990088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能力が同じでも、実現する schooling は一つに決まらない。</a:t>
            </a:r>
            <a:endParaRPr lang="en-US" sz="1370" dirty="0"/>
          </a:p>
        </p:txBody>
      </p:sp>
      <p:sp>
        <p:nvSpPr>
          <p:cNvPr id="20" name="Shape 17"/>
          <p:cNvSpPr/>
          <p:nvPr/>
        </p:nvSpPr>
        <p:spPr>
          <a:xfrm>
            <a:off x="7863840" y="4462272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863840" y="4462272"/>
            <a:ext cx="128016" cy="102412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01584" y="4626864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101584" y="4992624"/>
            <a:ext cx="2990088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これは F(S | a = 0) のイメージ図である。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二つ目の条件付き分布：W | S, 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賃金の分布は、教育年数と能力の両方を与えると定まる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828800"/>
            <a:ext cx="5623560" cy="457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59536" y="2743200"/>
            <a:ext cx="50063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9536" y="2743200"/>
            <a:ext cx="128016" cy="20116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2907792"/>
            <a:ext cx="4695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 だけでは足りない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1097280" y="3273552"/>
            <a:ext cx="4658868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能力もわからないと、賃金の分布は一つに定まらない。</a:t>
            </a:r>
            <a:endParaRPr lang="en-US" sz="1310" dirty="0"/>
          </a:p>
        </p:txBody>
      </p:sp>
      <p:sp>
        <p:nvSpPr>
          <p:cNvPr id="16" name="Shape 13"/>
          <p:cNvSpPr/>
          <p:nvPr/>
        </p:nvSpPr>
        <p:spPr>
          <a:xfrm>
            <a:off x="6185916" y="2743200"/>
            <a:ext cx="50063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85916" y="2743200"/>
            <a:ext cx="128016" cy="20116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23660" y="2907792"/>
            <a:ext cx="46954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 と a を与えると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6423660" y="3273552"/>
            <a:ext cx="4658868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残る不確実性は ε のみになり、賃金の条件付き分布が定まる。</a:t>
            </a:r>
            <a:endParaRPr lang="en-US" sz="13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なぜ「束」と呼ぶのか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モデルは一つの式というより、複数の条件付き分布のまとまり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91640"/>
            <a:ext cx="4983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691640"/>
            <a:ext cx="128016" cy="22402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85623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この例での 2 本柱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221992"/>
            <a:ext cx="4636008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F(S | 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F(W | S, a)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この二つを合わせて、一つのモデルと考える。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27648" y="1691640"/>
            <a:ext cx="4983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691640"/>
            <a:ext cx="128016" cy="22402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85623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重要な含意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2221992"/>
            <a:ext cx="4636008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8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モデルがわかるとは、個々のサンプルをどう生成するかがわかることでもある。</a:t>
            </a:r>
            <a:endParaRPr lang="en-US" sz="148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この見方をすると、モデルとシミュレーションが自然につながる。</a:t>
            </a:r>
            <a:endParaRPr lang="en-US" sz="139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モデルがわかると、シミュレーションができる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式をコードにすれば、人工データを生成できる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1828800"/>
            <a:ext cx="128016" cy="10515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99339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能力を引く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87552" y="2359152"/>
            <a:ext cx="180136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を生成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182880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828800"/>
            <a:ext cx="128016" cy="1051560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199339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schooling を作る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83864" y="2359152"/>
            <a:ext cx="198424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S* → round → clip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16752" y="182880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1828800"/>
            <a:ext cx="128016" cy="1051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993392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賃金を作る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54496" y="2359152"/>
            <a:ext cx="180136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 を生成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18288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49640" y="1828800"/>
            <a:ext cx="128016" cy="105156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7384" y="1993392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データ完成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787384" y="2359152"/>
            <a:ext cx="216712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(S, W, a) のサンプル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07792" y="2359152"/>
            <a:ext cx="25603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05272" y="2359152"/>
            <a:ext cx="256032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9600" y="2359152"/>
            <a:ext cx="2286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" y="4023360"/>
            <a:ext cx="10241280" cy="128016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14400" y="4023360"/>
            <a:ext cx="128016" cy="12801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52144" y="418795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含意</a:t>
            </a:r>
            <a:endParaRPr lang="en-US" sz="1520" dirty="0"/>
          </a:p>
        </p:txBody>
      </p:sp>
      <p:sp>
        <p:nvSpPr>
          <p:cNvPr id="33" name="Text 31"/>
          <p:cNvSpPr/>
          <p:nvPr/>
        </p:nvSpPr>
        <p:spPr>
          <a:xfrm>
            <a:off x="1152144" y="4553712"/>
            <a:ext cx="989380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モデルは、単なる説明文ではない。仮定のもとで「こういうデータが出る」という生成過程まで含んでいる。</a:t>
            </a:r>
            <a:endParaRPr lang="en-US" sz="14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シミュレーションコードは、モデルをそのまま書いたもの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note にあるコードは、分布の仮定を順番に実装している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0020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600200"/>
            <a:ext cx="128016" cy="25146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7647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コードの役割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130552"/>
            <a:ext cx="3127248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ability を引く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latent schooling を作る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schooling を丸める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wage を生成する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4572000" y="160020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600200"/>
            <a:ext cx="128016" cy="25146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764792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式との対応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9744" y="2130552"/>
            <a:ext cx="3127248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aᵢ, Sᵢ, Wᵢ を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順に生成している。</a:t>
            </a:r>
            <a:endParaRPr lang="en-US" sz="1470" dirty="0"/>
          </a:p>
          <a:p>
            <a:pPr indent="0" marL="0">
              <a:buNone/>
            </a:pPr>
            <a:r>
              <a:rPr lang="en-US" sz="147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つまり Data Generating Process を書いている。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8275320" y="1600200"/>
            <a:ext cx="2926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1600200"/>
            <a:ext cx="128016" cy="251460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13064" y="176479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ここで大事な視点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13064" y="2130552"/>
            <a:ext cx="2578608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コードは「作業手順」ではなく、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モデルの中身を明示するもの。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シミュレーションは複雑な構造を理解するための強力な道具である。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シミュレーションが重要なのは、この授業だけの話ではない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複雑なシステムを「1本の答え」ではなく、ありうる結果の分布として見る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1737360"/>
            <a:ext cx="337718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737360"/>
            <a:ext cx="128016" cy="260604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0195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天気予報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42416" y="2267712"/>
            <a:ext cx="3029712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初期条件を少しずつ変えながら複数回計算し、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予報のばらつきまで評価する。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19600" y="1737360"/>
            <a:ext cx="337718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9600" y="1737360"/>
            <a:ext cx="128016" cy="260604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344" y="190195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感染症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57344" y="2267712"/>
            <a:ext cx="3029712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接触率・変異株・介入策の違いごとに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複数のシナリオを比較する。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034528" y="1737360"/>
            <a:ext cx="337718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4528" y="1737360"/>
            <a:ext cx="128016" cy="26060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2272" y="190195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交通渋滞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272272" y="2267712"/>
            <a:ext cx="3029712" cy="1947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小さな減速が波のように伝わり、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思わぬ渋滞を生む仕組みを追う。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共通しているのは、「複数の可能な結果とその不確実性」を扱う点である。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含意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モデルがあると、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世界の仕組みを「生成過程」として考えられる。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9536" y="39136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計量経済学の最終目標も、経済現象をそういう形で理解できるようにすることにある。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49808" y="1024128"/>
            <a:ext cx="2194560" cy="0"/>
          </a:xfrm>
          <a:prstGeom prst="line">
            <a:avLst/>
          </a:prstGeom>
          <a:noFill/>
          <a:ln w="27940">
            <a:solidFill>
              <a:srgbClr val="E27D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856232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計量経済学の目的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29077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7D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データからモデルの細部へ近づく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5D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計量経済学の究極的な目標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シミュレーションというツールを経済現象に持ち込むこと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7D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847088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シミュレーション分析ができるほど、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経済現象のモデルを具体化したい。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086600" y="169164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86600" y="1691640"/>
            <a:ext cx="128016" cy="20116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24344" y="1856232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そのために必要なこと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24344" y="2221992"/>
            <a:ext cx="3721608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モデルの構造を定める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パラメータを知る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観測できない要因への対処を考える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経済理論は大枠を与えるが、それだけではまだシミュレーションできない。</a:t>
            </a:r>
            <a:endParaRPr lang="en-US" sz="139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理論はモデルの大枠を与えてくれる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ただし、細部までは埋めてくれない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7D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83080"/>
            <a:ext cx="49926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1783080"/>
            <a:ext cx="128016" cy="22402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4767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人的資本理論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78992" y="2313432"/>
            <a:ext cx="4645152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教育年数が高いほど賃金が上がる、という方向感を与える。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181344" y="1783080"/>
            <a:ext cx="4992624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783080"/>
            <a:ext cx="128016" cy="22402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94767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シグナリング理論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19088" y="2313432"/>
            <a:ext cx="4645152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能力の高い人ほど進学しやすい、という構造を示唆する。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理論は「どんな変数が関係しそうか」は教えてくれるが、数値や分布までは教えてくれない。</a:t>
            </a:r>
            <a:endParaRPr lang="en-US" sz="139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障壁 1：モデルの詳細がわからない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現実の世界を動かしているパラメータは未知である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7D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5038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783080"/>
            <a:ext cx="128016" cy="214884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47672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わからないもの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0704" y="2313432"/>
            <a:ext cx="4690872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α₀, α₁, β₀, β₁, β₂ が現実には未知。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208776" y="1783080"/>
            <a:ext cx="503834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783080"/>
            <a:ext cx="128016" cy="214884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947672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困ること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46520" y="2313432"/>
            <a:ext cx="4690872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教育の効果がどのくらいか、能力の寄与がどのくらいかを直接は知らない。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つまり、理論の骨組みがあっても、シミュレーションに必要な「中身の数値」が足りない。</a:t>
            </a:r>
            <a:endParaRPr lang="en-US" sz="13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障壁 2：変数は一部しか見えない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本当に重要な変数ほど、きれいには観測できないことが多い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7D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91640"/>
            <a:ext cx="50292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691640"/>
            <a:ext cx="128016" cy="242316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856232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例：能力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06424" y="2221992"/>
            <a:ext cx="468172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IQ、試験点数、成績などは測れる。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しかし、それが賃金につながる「能力」そのものかは断言できない。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291072" y="1691640"/>
            <a:ext cx="49834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1691640"/>
            <a:ext cx="128016" cy="24231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85623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代理変数の限界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8816" y="2221992"/>
            <a:ext cx="4636008" cy="1764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認知能力以外にも非認知能力があるかもしれない。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何を測れば十分かは簡単ではない。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見えていない変数が残る中で、見えているデータだけでどこまで言えるかを考える必要がある。</a:t>
            </a:r>
            <a:endParaRPr lang="en-US" sz="139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データとは「見えている変数」の集合である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現実の世界の全てではなく、観測できた断片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7D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6112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1828800"/>
            <a:ext cx="128016" cy="16002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199339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見えている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33856" y="2359152"/>
            <a:ext cx="2852928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賃金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出生四半期 など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26280" y="18288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1828800"/>
            <a:ext cx="128016" cy="160020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99339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見えにくい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64024" y="2359152"/>
            <a:ext cx="2852928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家庭環境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意欲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期待収益 など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6448" y="182880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6448" y="1828800"/>
            <a:ext cx="128016" cy="1600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199339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だから必要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94192" y="2359152"/>
            <a:ext cx="2715768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見えているものから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見えていない構造へ迫る方法論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この方法論こそが、識別・推定・推論という 3 ステップで整理される。</a:t>
            </a:r>
            <a:endParaRPr lang="en-US" sz="139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計量経済学は、データをモデルにつなぐ橋である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その橋の上で行う作業が、識別・推定・推論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7D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35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554480"/>
            <a:ext cx="10149840" cy="2560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97280" y="4572000"/>
            <a:ext cx="316077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97280" y="4572000"/>
            <a:ext cx="128016" cy="84124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35024" y="4736592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1335024" y="5102352"/>
            <a:ext cx="28133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知りたいパラメータを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取り出せるか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477512" y="4572000"/>
            <a:ext cx="316077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477512" y="4572000"/>
            <a:ext cx="128016" cy="8412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5256" y="4736592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4715256" y="5102352"/>
            <a:ext cx="28133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データから具体的な数を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計算する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857744" y="4572000"/>
            <a:ext cx="316077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857744" y="4572000"/>
            <a:ext cx="128016" cy="84124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5488" y="4736592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8095488" y="5102352"/>
            <a:ext cx="28133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その数がどれだけ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揺れるかを測る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49808" y="1024128"/>
            <a:ext cx="2194560" cy="0"/>
          </a:xfrm>
          <a:prstGeom prst="line">
            <a:avLst/>
          </a:prstGeom>
          <a:noFill/>
          <a:ln w="27940">
            <a:solidFill>
              <a:srgbClr val="7CB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856232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29077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知りたいのはパターンではなく、パラメータ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5D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識別が考える中心問題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相関のパターンではなく、知りたいパラメータを取り出せるか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506120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783080"/>
            <a:ext cx="128016" cy="22860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47672"/>
            <a:ext cx="4750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パターン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0704" y="2313432"/>
            <a:ext cx="4713732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教育年数が長いほど賃金が高い、という見かけの傾き。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231636" y="1783080"/>
            <a:ext cx="506120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1636" y="1783080"/>
            <a:ext cx="128016" cy="22860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9380" y="1947672"/>
            <a:ext cx="4750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パラメータ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69380" y="2313432"/>
            <a:ext cx="4713732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教育年数が 1 年増えたとき賃金がどれだけ変わるか、という β₁。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計量経済学の問いは、「見えている傾きから β₁ をどう切り出すか」である。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教育の例で本当に知りたいのは β₁ である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 1 年の賃金効果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38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920240"/>
            <a:ext cx="6492240" cy="457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98080" y="169164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0" y="1691640"/>
            <a:ext cx="128016" cy="192024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35824" y="1856232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1 の教訓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735824" y="2221992"/>
            <a:ext cx="3401568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単純回帰の傾きは、能力などの要因が混ざるため、β₁ と一致しないかもしれない。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19" name="Text 16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つまり、回帰係数が出たからといって、それで自動的に欲しいパラメータが得られたわけではない。</a:t>
            </a:r>
            <a:endParaRPr lang="en-US" sz="139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素朴な傾きは「相関」であって、「効果」ではないことがある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能力が schooling と wage の両方に入るため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78308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783080"/>
            <a:ext cx="128016" cy="21945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47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素朴な回帰の傾き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" y="2313432"/>
            <a:ext cx="4636008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教育年数の高い人と低い人の平均賃金差を拾っている。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しかし、その差には能力差も混ざる。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783080"/>
            <a:ext cx="128016" cy="21945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947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47104" y="2313432"/>
            <a:ext cx="4636008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教育だけを 1 年動かしたとき、賃金がどれだけ変わるかを表す。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知りたいのはこちら。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識別の仕事は、この二つを区別して、後者に近づく道筋を作ること。</a:t>
            </a:r>
            <a:endParaRPr lang="en-US" sz="139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知りたいパラメータを、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データから何らかの方法で取り出せるとき、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そのパラメータは識別できる。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9536" y="39136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英語では identifiable。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その「何らかの方法」を識別戦略と呼ぶ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identification strategy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83080"/>
            <a:ext cx="499262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1783080"/>
            <a:ext cx="128016" cy="22860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4767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識別戦略とは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78992" y="2313432"/>
            <a:ext cx="4645152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見えているデータと、知りたいパラメータをつなぐロジック。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181344" y="1783080"/>
            <a:ext cx="499262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783080"/>
            <a:ext cx="128016" cy="228600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94767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なぜ重要か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19088" y="2313432"/>
            <a:ext cx="4645152" cy="1627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どれだけ複雑な推定式を使っても、識別戦略がなければ β₁ には届かない。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学部の計量経済学では、まず識別戦略の発想を掴むことが最優先である。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なぜ識別がとくに重要か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推定と推論は統計学寄り、識別は計量経済学らしさの中心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337718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783080"/>
            <a:ext cx="128016" cy="23774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42416" y="2313432"/>
            <a:ext cx="3029712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この変動で β₁ が本当に見えるのかを考える。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19600" y="1783080"/>
            <a:ext cx="337718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9600" y="1783080"/>
            <a:ext cx="128016" cy="2377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7344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57344" y="2313432"/>
            <a:ext cx="3029712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見えるとわかったあとで、どう計算するかを考える。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034528" y="1783080"/>
            <a:ext cx="337718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34528" y="1783080"/>
            <a:ext cx="128016" cy="237744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2272" y="1947672"/>
            <a:ext cx="3066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272272" y="2313432"/>
            <a:ext cx="3029712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計算された値がどれくらい揺れるかを考える。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順番としては、まず識別。そのあとに推定と推論が乗る。</a:t>
            </a:r>
            <a:endParaRPr lang="en-US" sz="139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識別戦略の具体例：Angrist and Krueger (1991)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1 の教育と賃金の話に戻る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45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645920"/>
            <a:ext cx="128016" cy="233172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81051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問題設定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176272"/>
            <a:ext cx="4727448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教育年数は本人の選択の結果であり、能力などと相関している。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したがって schooling はランダムではない。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4983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645920"/>
            <a:ext cx="128016" cy="2331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181051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知りたいもの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1384" y="2176272"/>
            <a:ext cx="4636008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 1 年の賃金効果 β₁。</a:t>
            </a:r>
            <a:endParaRPr lang="en-US" sz="1440" dirty="0"/>
          </a:p>
          <a:p>
            <a:pPr indent="0" marL="0">
              <a:buNone/>
            </a:pPr>
            <a:r>
              <a:rPr lang="en-US" sz="144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相関ではなく、教育の効果そのもの。</a:t>
            </a:r>
            <a:endParaRPr lang="en-US" sz="144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彼らの発想は、「本人が選んだ schooling」ではなく、制度を通じて生じる外生的なズレを使うことだった。</a:t>
            </a:r>
            <a:endParaRPr lang="en-US" sz="139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 の識別戦略：誕生四半期を使う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教育の自己選択より外生的な変動を探す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828800"/>
            <a:ext cx="128016" cy="150876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9339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観測できる変数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52144" y="2359152"/>
            <a:ext cx="2624328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誕生月・誕生四半期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28800"/>
            <a:ext cx="128016" cy="150876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199339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制度との結合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855464" y="2359152"/>
            <a:ext cx="2624328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入学 cutoff 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義務教育の離学年齢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2752" y="1828800"/>
            <a:ext cx="2971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1828800"/>
            <a:ext cx="128016" cy="15087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199339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生まれるもの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0496" y="2359152"/>
            <a:ext cx="2624328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教育年数の小さなズレ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41648" y="2578608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26680" y="2578608"/>
            <a:ext cx="3657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誕生月そのものに教育的意味があるのではなく、制度と結びつくことで schooling を少し動かす点が重要である。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メカニズムを 3 つに分けると見通しがよい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誕生月 → 制度 → 教育年数のズレ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920240"/>
            <a:ext cx="326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920240"/>
            <a:ext cx="128016" cy="16459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2084832"/>
            <a:ext cx="2950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1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2450592"/>
            <a:ext cx="291388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学年内で入学時年齢に差がつく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04360" y="1920240"/>
            <a:ext cx="326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04360" y="1920240"/>
            <a:ext cx="128016" cy="164592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2104" y="2084832"/>
            <a:ext cx="2950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2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42104" y="2450592"/>
            <a:ext cx="291388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離学可能年齢と結びつく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40040" y="1920240"/>
            <a:ext cx="3261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40040" y="1920240"/>
            <a:ext cx="128016" cy="16459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7784" y="2084832"/>
            <a:ext cx="2950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3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177784" y="2450592"/>
            <a:ext cx="291388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平均教育年数の差に変わる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以下では、この 3 段階を順番に確認する。</a:t>
            </a:r>
            <a:endParaRPr lang="en-US" sz="139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1：入学 cutoff が学年内の年齢差を生む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同じ学年でも、早い誕生月と遅い誕生月で入学時の年齢が少し違う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46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1600200"/>
            <a:ext cx="10424160" cy="3154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この差自体は小さいが、あとで離学年齢ルールと結びつくと意味を持つ。</a:t>
            </a:r>
            <a:endParaRPr lang="en-US" sz="139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2：義務教育法と組み合わさると、教育年数に差が出る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学校をやめてもよい年齢が「年齢ベース」で決まっていることが鍵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737360"/>
            <a:ext cx="4892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737360"/>
            <a:ext cx="128016" cy="22402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01952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早い誕生月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" y="2267712"/>
            <a:ext cx="4544568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同じ学年でも、先に 16 歳に達する。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そのため、ある学年を終える前に退学しやすい。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355080" y="1737360"/>
            <a:ext cx="4892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737360"/>
            <a:ext cx="128016" cy="22402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901952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遅い誕生月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2824" y="2267712"/>
            <a:ext cx="4544568" cy="1581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同じ時点ではまだ離学可能年齢に達していないので、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もう少し学校に残りやすい。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同じ能力でも、制度ルールによって schooling の平均が少しずれる可能性がある。</a:t>
            </a:r>
            <a:endParaRPr lang="en-US" sz="139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早い誕生月ほど「法的に退学できるタイミング」が早く来る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ここで生じる小さなズレを識別に使う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6112" y="173736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1737360"/>
            <a:ext cx="128016" cy="182880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190195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生まれ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33856" y="2267712"/>
            <a:ext cx="2715768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同じ学年の中で相対的に年長。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離学可能年齢に早く到達。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53712" y="173736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1737360"/>
            <a:ext cx="128016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90195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制度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2267712"/>
            <a:ext cx="2715768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年齢が基準の離学ルール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11312" y="173736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11312" y="1737360"/>
            <a:ext cx="128016" cy="18288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1901952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49056" y="2267712"/>
            <a:ext cx="2715768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平均教育年数がわずかに短くなりうる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86784" y="2633472"/>
            <a:ext cx="38404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44384" y="2633472"/>
            <a:ext cx="38404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識別に必要なのは、大きな差ではなく、外生的で説明可能な差である。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3：制度が誕生四半期を通じて schooling を動かす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誕生四半期そのものが本質ではない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49</a:t>
            </a:r>
            <a:endParaRPr lang="en-US" sz="900" dirty="0"/>
          </a:p>
        </p:txBody>
      </p:sp>
      <p:pic>
        <p:nvPicPr>
          <p:cNvPr id="11" name="Image 0" descr="/mnt/data/lecture2_slide_assets/first_stage_quarter_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72133"/>
            <a:ext cx="6217920" cy="406237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315200" y="18745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0" y="1874520"/>
            <a:ext cx="128016" cy="10515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52944" y="2039112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552944" y="2404872"/>
            <a:ext cx="349300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生まれの教育年数は、その他より平均でやや短い。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0" y="3172968"/>
            <a:ext cx="3840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0" y="3172968"/>
            <a:ext cx="128016" cy="1170432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52944" y="333756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ここで効いているもの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552944" y="3703320"/>
            <a:ext cx="3493008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誕生月そのものではなく、誕生月 × 制度ルール。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0" y="4599432"/>
            <a:ext cx="3840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15200" y="4599432"/>
            <a:ext cx="128016" cy="987552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52944" y="4764024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第一段階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552944" y="5129784"/>
            <a:ext cx="349300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この小さな教育年数差が識別の入口になる。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「誕生月が教育を決める」と言っているわけではない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重要なのは、制度を通じて教育年数が少し動くという構造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8308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1783080"/>
            <a:ext cx="128016" cy="219456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47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誤解しやすい読み方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78992" y="2313432"/>
            <a:ext cx="4636008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生まれだから教育が低い、と言っている。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190488" y="1783080"/>
            <a:ext cx="49834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0488" y="1783080"/>
            <a:ext cx="128016" cy="21945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947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正しい読み方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28232" y="2313432"/>
            <a:ext cx="4636008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誕生四半期が制度ルールと結びつくことで、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 schooling に小さな差が出る。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「変数そのもの」ではなく、「変数がどの制度・仕組みと結びつくか」を見るのが識別戦略の核心である。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ここでいう「ランダム」とはどういう意味か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完全な無作為抽選でなくても、教育の自己選択より外生的であることが重要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334670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783080"/>
            <a:ext cx="128016" cy="24688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4767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schooling の自己選択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0704" y="2313432"/>
            <a:ext cx="299923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能力や意欲が強く反映される。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07408" y="1783080"/>
            <a:ext cx="334670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07408" y="1783080"/>
            <a:ext cx="128016" cy="24688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94767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45152" y="2313432"/>
            <a:ext cx="299923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少なくとも schooling の選択ほどは、本人の能力と直結しない。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991856" y="1783080"/>
            <a:ext cx="3346704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91856" y="1783080"/>
            <a:ext cx="128016" cy="24688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947672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識別に使える変動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229600" y="2313432"/>
            <a:ext cx="2999232" cy="1810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制度を通じて schooling を動かし、賃金への直接経路は持ちにくい。</a:t>
            </a:r>
            <a:endParaRPr lang="en-US" sz="131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B34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識別戦略とは、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「欲しいパラメータに届く変動」を見つけること。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9536" y="39136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 では、その変動が誕生四半期 × 制度ルールであった。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49808" y="1024128"/>
            <a:ext cx="2194560" cy="0"/>
          </a:xfrm>
          <a:prstGeom prst="line">
            <a:avLst/>
          </a:prstGeom>
          <a:noFill/>
          <a:ln w="2794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856232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29077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データをパラメータに変換する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5D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53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識別戦略が決まったら、次は計算手順が必要になる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識別は「見えるかどうか」、推定は「どう計算するか」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492861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828800"/>
            <a:ext cx="128016" cy="21945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933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2359152"/>
            <a:ext cx="4581144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β₁ を取り出せるロジックを作る。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4928616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828800"/>
            <a:ext cx="128016" cy="2194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9933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19088" y="2359152"/>
            <a:ext cx="4581144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そのロジックを、実際のデータに適用できる計算式にする。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同じパラメータでも、推定の具体的な計算手順はいくつもありうる。</a:t>
            </a:r>
            <a:endParaRPr lang="en-US" sz="139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推定の方法は一つではない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最尤法・モーメント法・GMM など様々な候補がある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338937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783080"/>
            <a:ext cx="128016" cy="23317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47672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最尤法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0704" y="2313432"/>
            <a:ext cx="3041904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モデル全体の尤もらしさを最大化する。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31792" y="1783080"/>
            <a:ext cx="338937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1792" y="1783080"/>
            <a:ext cx="128016" cy="2331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9536" y="1947672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モーメント法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69536" y="2313432"/>
            <a:ext cx="3041904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理論とデータのモーメントを合わせる。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040624" y="1783080"/>
            <a:ext cx="338937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0624" y="1783080"/>
            <a:ext cx="128016" cy="2331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8368" y="1947672"/>
            <a:ext cx="307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GMM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278368" y="2313432"/>
            <a:ext cx="3041904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モーメント法を一般化した枠組み。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この授業では、とくに OLS と、その延長としての 2SLS を中心に扱う。</a:t>
            </a:r>
            <a:endParaRPr lang="en-US" sz="139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推定量と推定値は区別する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英語では estimator と estimate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783080"/>
            <a:ext cx="4983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783080"/>
            <a:ext cx="128016" cy="2377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47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推定量（estimator）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313432"/>
            <a:ext cx="4636008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データを入れる前の「計算ルール」そのもの。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データが変われば出力も変わるので、ランダムな対象として扱う。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4983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783080"/>
            <a:ext cx="128016" cy="237744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947672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推定値（estimate）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47104" y="2313432"/>
            <a:ext cx="4636008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実際の観測データをそのルールに代入して得られた具体的な数。</a:t>
            </a:r>
            <a:endParaRPr lang="en-US" sz="14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推定は「関数」として書ける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データを入力して、パラメータの候補を出力する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57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7520" y="1965960"/>
            <a:ext cx="3931920" cy="640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60120" y="2926080"/>
            <a:ext cx="10149840" cy="1371600"/>
          </a:xfrm>
          <a:prstGeom prst="roundRect">
            <a:avLst>
              <a:gd name="adj" fmla="val 5333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60120" y="2926080"/>
            <a:ext cx="128016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97864" y="3090672"/>
            <a:ext cx="9838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97864" y="3456432"/>
            <a:ext cx="980236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 が推定量。実際の data_obs を入れると、具体的な推定値 \hat{θ} = G(data_obs) が得られる。</a:t>
            </a:r>
            <a:endParaRPr lang="en-US" sz="14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「ルール」と「出てきた数」を混同しない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推定量と推定値のズレは、推論でも重要になる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83080"/>
            <a:ext cx="50154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1783080"/>
            <a:ext cx="128016" cy="21488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47672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ルール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78992" y="2313432"/>
            <a:ext cx="4668012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データをまだ見ていない段階。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どの標本が来るかで値は変わる。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204204" y="1783080"/>
            <a:ext cx="50154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4204" y="1783080"/>
            <a:ext cx="128016" cy="214884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1948" y="1947672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出てきた数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41948" y="2313432"/>
            <a:ext cx="4668012" cy="1490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いま手元にある標本を入れた結果。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論文や表に報告されるのはこちら。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推論では、前者の「どれくらい揺れるか」を考えることになる。</a:t>
            </a:r>
            <a:endParaRPr lang="en-US" sz="139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なぜこの授業では OLS を中心に扱うのか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保守的だからではなく、基本であり実務でも最重要だから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337413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783080"/>
            <a:ext cx="128016" cy="25146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47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現場でよく使う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0704" y="2313432"/>
            <a:ext cx="3026664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データ分析の基本手法として、実務でも頻出。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416552" y="1783080"/>
            <a:ext cx="337413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16552" y="1783080"/>
            <a:ext cx="128016" cy="25146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947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概念の入口になる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54296" y="2313432"/>
            <a:ext cx="3026664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最適化・分散・標準誤差など重要概念を一通り学べる。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010144" y="1783080"/>
            <a:ext cx="3374136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10144" y="1783080"/>
            <a:ext cx="128016" cy="2514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9476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他の方法にもつながる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247888" y="2313432"/>
            <a:ext cx="3026664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IV/2SLS や GMM を理解する基礎になる。</a:t>
            </a:r>
            <a:endParaRPr lang="en-US" sz="131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OLS は見た目よりずっと奥が深い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最初は「簡単そう」に見えるが、理解には時間がかかる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0287000" cy="18288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828800"/>
            <a:ext cx="128016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93392"/>
            <a:ext cx="9976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この授業での姿勢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52144" y="2359152"/>
            <a:ext cx="9939528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最初から完全に理解しようとしなくてよい。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まずは「何をしているか」の輪郭をつかみ、後から何度も戻ってくる。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ここでは、推定量が「β₁ に届くよう設計された計算ルール」だという感覚を持てれば十分である。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AK の推定の発想：Q1 生まれとそれ以外を比べる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誕生四半期で生じた差を、教育効果の推定に使う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328574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828800"/>
            <a:ext cx="128016" cy="20116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93392"/>
            <a:ext cx="2974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グループ 1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2359152"/>
            <a:ext cx="293827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 1 四半期生まれ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92168" y="1828800"/>
            <a:ext cx="328574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92168" y="1828800"/>
            <a:ext cx="128016" cy="20116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9912" y="1993392"/>
            <a:ext cx="2974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グループ 2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29912" y="2359152"/>
            <a:ext cx="293827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 2〜4 四半期生まれ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15656" y="1828800"/>
            <a:ext cx="328574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15656" y="1828800"/>
            <a:ext cx="128016" cy="20116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53400" y="1993392"/>
            <a:ext cx="2974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見る差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153400" y="2359152"/>
            <a:ext cx="293827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平均賃金差 と 平均教育年数差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誕生四半期が schooling を少し動かすなら、そのとき一緒に動く wage の差も使える。</a:t>
            </a:r>
            <a:endParaRPr lang="en-US" sz="139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まずは分母になる教育年数差を見る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誕生四半期で schooling がどれだけずれるか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62</a:t>
            </a:r>
            <a:endParaRPr lang="en-US" sz="900" dirty="0"/>
          </a:p>
        </p:txBody>
      </p:sp>
      <p:pic>
        <p:nvPicPr>
          <p:cNvPr id="11" name="Image 0" descr="/mnt/data/lecture2_slide_assets/first_stage_quarter_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98371"/>
            <a:ext cx="6583680" cy="430133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0" y="19202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0" y="1920240"/>
            <a:ext cx="128016" cy="1143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10144" y="208483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分母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10144" y="2450592"/>
            <a:ext cx="303580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E[s | Z=1] − E[s | Z=0]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7772400" y="3310128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0" y="3310128"/>
            <a:ext cx="128016" cy="1188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10144" y="34747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具体的には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010144" y="3840480"/>
            <a:ext cx="303580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生まれの平均 schooling が少し短い。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72400" y="47548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0" y="4754880"/>
            <a:ext cx="128016" cy="8686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10144" y="491947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意味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8010144" y="5285232"/>
            <a:ext cx="3035808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誕生四半期が schooling を動かしていることの確認。</a:t>
            </a:r>
            <a:endParaRPr lang="en-US" sz="13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推定量の直感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誕生四半期で生じた「賃金差」を「教育年数差」で割る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828800"/>
            <a:ext cx="128016" cy="1554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933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" y="2359152"/>
            <a:ext cx="9893808" cy="896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もし Q1 とその他の差が制度を通じた schooling のズレだけなら、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そのときの wage の差 ÷ schooling の差 は、教育 1 年あたりの効果を表していそうに見える。</a:t>
            </a:r>
            <a:endParaRPr lang="en-US" sz="1460" dirty="0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ここでは、比率という形が重要。分子だけでも分母だけでもなく、その両方を使う。</a:t>
            </a:r>
            <a:endParaRPr lang="en-US" sz="139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推定量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ダミー Z を用いて書く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64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65960"/>
            <a:ext cx="9784080" cy="8229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3657600"/>
            <a:ext cx="10241280" cy="1207008"/>
          </a:xfrm>
          <a:prstGeom prst="roundRect">
            <a:avLst>
              <a:gd name="adj" fmla="val 6061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14400" y="3657600"/>
            <a:ext cx="128016" cy="120700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8221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52144" y="4187952"/>
            <a:ext cx="9893808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分子は誕生四半期による賃金差、分母は誕生四半期による教育年数差。比率として教育効果を推定する。</a:t>
            </a:r>
            <a:endParaRPr lang="en-US" sz="143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式の中身は、すべてグループ平均でできている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計算素材そのものは難しくない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32705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828800"/>
            <a:ext cx="128016" cy="201168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93392"/>
            <a:ext cx="295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E[w | Z=1]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2359152"/>
            <a:ext cx="29230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生まれの平均賃金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76928" y="1828800"/>
            <a:ext cx="32705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6928" y="1828800"/>
            <a:ext cx="128016" cy="20116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4672" y="1993392"/>
            <a:ext cx="295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E[w | Z=0]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14672" y="2359152"/>
            <a:ext cx="29230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以外の平均賃金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885176" y="1828800"/>
            <a:ext cx="32705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85176" y="1828800"/>
            <a:ext cx="128016" cy="20116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2920" y="1993392"/>
            <a:ext cx="295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E[s | Z=1], E[s | Z=0]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122920" y="2359152"/>
            <a:ext cx="29230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同じく教育年数の平均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つまり Wald 推定量の推定値は、データさえあれば「平均を計算して代入する」だけで得られる。</a:t>
            </a:r>
            <a:endParaRPr lang="en-US" sz="139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推定量は「4 つの平均」から作れる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この意味で、直感的にも計算しやすい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783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783080"/>
            <a:ext cx="128016" cy="137160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4767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313432"/>
            <a:ext cx="198424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の賃金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10128" y="1783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0128" y="1783080"/>
            <a:ext cx="128016" cy="13716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94767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 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47872" y="2313432"/>
            <a:ext cx="198424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その他の賃金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51576" y="1783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51576" y="1783080"/>
            <a:ext cx="128016" cy="13716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94767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89320" y="2313432"/>
            <a:ext cx="198424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の教育年数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93024" y="178308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3024" y="1783080"/>
            <a:ext cx="128016" cy="1371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0768" y="194767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30768" y="2313432"/>
            <a:ext cx="1984248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その他の教育年数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" y="3886200"/>
            <a:ext cx="10241280" cy="1325880"/>
          </a:xfrm>
          <a:prstGeom prst="roundRect">
            <a:avLst>
              <a:gd name="adj" fmla="val 5517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3886200"/>
            <a:ext cx="128016" cy="132588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2144" y="40507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そこから作るもの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2144" y="4416552"/>
            <a:ext cx="98938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（平均賃金差）÷（平均教育年数差）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 Wald 推定量を、別の書き方で表すこともできる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平均差を直接計算する道具として OLS を使う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69164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691640"/>
            <a:ext cx="128016" cy="23317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856232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6424" y="2221992"/>
            <a:ext cx="4590288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とその他の平均賃金差は、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 を Z に回帰した OLS 係数として書ける。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691640"/>
            <a:ext cx="128016" cy="2331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856232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2824" y="2221992"/>
            <a:ext cx="4590288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Q1 とその他の平均教育年数差も、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 を Z に回帰した OLS 係数として書ける。</a:t>
            </a:r>
            <a:endParaRPr lang="en-US" sz="143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したがって、Wald 推定量は「2 つの OLS の比」として書ける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これが後で 2SLS につながる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68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20" y="2103120"/>
            <a:ext cx="6309360" cy="640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3749040"/>
            <a:ext cx="10241280" cy="128016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14400" y="3749040"/>
            <a:ext cx="128016" cy="12801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391363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含意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52144" y="4279392"/>
            <a:ext cx="9893808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平均差をそのまま計算してもよいし、OLS 係数として計算してもよい。推定値は同じになる。</a:t>
            </a:r>
            <a:endParaRPr lang="en-US" sz="14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この「OLS の比」は 2SLS として一発で計算できる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と 2SLS はこの設定では同値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0241280" cy="1508760"/>
          </a:xfrm>
          <a:prstGeom prst="roundRect">
            <a:avLst>
              <a:gd name="adj" fmla="val 4848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828800"/>
            <a:ext cx="128016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933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2SLS のメッセージ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" y="2359152"/>
            <a:ext cx="9893808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わざわざ 2 回 OLS をして比を取らなくても、行列の公式で同じ推定値を直接計算できる。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ここでは「Wald = 2SLS としても見られる」という事実だけを押さえれば十分である。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2SLS の行列公式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いまは式全体を暗記する必要はない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70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2011680"/>
            <a:ext cx="9966960" cy="594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96112" y="3474720"/>
            <a:ext cx="10287000" cy="1417320"/>
          </a:xfrm>
          <a:prstGeom prst="roundRect">
            <a:avLst>
              <a:gd name="adj" fmla="val 5161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96112" y="3474720"/>
            <a:ext cx="128016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3639312"/>
            <a:ext cx="9976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この段階でわかればよいこと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133856" y="4005072"/>
            <a:ext cx="993952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データ行列 X, Z, y をうまく足し引き・掛け算すると、Wald と同じ教育係数を作れる。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なぜそうなるかは後半で扱う。</a:t>
            </a:r>
            <a:endParaRPr lang="en-US" sz="142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なぜわざわざ 2 通りの表し方をするのか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直感的な表現と、推論しやすい表現は必ずしも同じではない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828800"/>
            <a:ext cx="492861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828800"/>
            <a:ext cx="128016" cy="21031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933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の形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2359152"/>
            <a:ext cx="4581144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直感的で、識別戦略との対応がわかりやすい。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492861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828800"/>
            <a:ext cx="128016" cy="210312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99339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2SLS の形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19088" y="2359152"/>
            <a:ext cx="4581144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標準誤差や検定を行いやすい。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計量経済学では、直感的な推定量を OLS/2SLS 的に再表現することがよくある。</a:t>
            </a:r>
            <a:endParaRPr lang="en-US" sz="139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E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05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見取り図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計量経済学らしい発想：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識別戦略から出てきた推定量を、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推論しやすい形に落とし込む。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59536" y="39136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Angrist の仕事の大きな価値の一つは、この「OLS 的に整理する」力にある。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49808" y="1024128"/>
            <a:ext cx="2194560" cy="0"/>
          </a:xfrm>
          <a:prstGeom prst="line">
            <a:avLst/>
          </a:prstGeom>
          <a:noFill/>
          <a:ln w="27940">
            <a:solidFill>
              <a:srgbClr val="7E6B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856232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68096" y="29077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推定値の不確実性を定量化する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8096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B8C5D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73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推定値が出ても、それで終わりではない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最後に残るのは、その値がどれだけ不確かかを測る作業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74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1554480"/>
            <a:ext cx="10424160" cy="27432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15" name="Text 12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推論は、「この推定値をどこまで信じてよいか」を数値で示す。</a:t>
            </a:r>
            <a:endParaRPr lang="en-US" sz="139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基礎統計の最小例を思い出す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母平均 μ が 0 かどうかを調べる問題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783080"/>
            <a:ext cx="32705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1783080"/>
            <a:ext cx="128016" cy="201168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1947672"/>
            <a:ext cx="295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推定量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106424" y="2313432"/>
            <a:ext cx="29230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サンプル平均 \u005cbar 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76928" y="1783080"/>
            <a:ext cx="32705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6928" y="1783080"/>
            <a:ext cx="128016" cy="20116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4672" y="1947672"/>
            <a:ext cx="295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ばらつき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14672" y="2313432"/>
            <a:ext cx="29230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標準誤差 SE(\u005cbar X)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885176" y="1783080"/>
            <a:ext cx="3270504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85176" y="1783080"/>
            <a:ext cx="128016" cy="201168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2920" y="1947672"/>
            <a:ext cx="2959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検定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122920" y="2313432"/>
            <a:ext cx="29230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= (\u005cbar X - 0)/SE(\u005cbar X)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推定量がどれくらい揺れるかを測ることで、パラメータに関する仮説を検討できる。</a:t>
            </a:r>
            <a:endParaRPr lang="en-US" sz="139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平均の推論を数式で書くと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これと同じ論理が、回帰や 2SLS にも拡張される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76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737360"/>
            <a:ext cx="2834640" cy="4114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1960" y="1737360"/>
            <a:ext cx="2377440" cy="411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0" y="1737360"/>
            <a:ext cx="27432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96112" y="2743200"/>
            <a:ext cx="10287000" cy="1600200"/>
          </a:xfrm>
          <a:prstGeom prst="roundRect">
            <a:avLst>
              <a:gd name="adj" fmla="val 4571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96112" y="2743200"/>
            <a:ext cx="128016" cy="160020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133856" y="2907792"/>
            <a:ext cx="9976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133856" y="3273552"/>
            <a:ext cx="9939528" cy="941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平均そのものだけを見るのではなく、その平均が標本ごとにどれくらい揺れうるかを SE で要約し、t 統計量で仮説を調べる。</a:t>
            </a:r>
            <a:endParaRPr lang="en-US" sz="143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計量経済学でも、やることの構造は同じ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パラメータ → 推定値 → 標準誤差 → 検定・信頼区間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251688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1828800"/>
            <a:ext cx="128016" cy="18288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933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識別対象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60704" y="2359152"/>
            <a:ext cx="2169414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β₁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504438" y="1828800"/>
            <a:ext cx="251688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04438" y="1828800"/>
            <a:ext cx="128016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2182" y="19933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3742182" y="2359152"/>
            <a:ext cx="2169414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\u005chat{β₁}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85916" y="1828800"/>
            <a:ext cx="251688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5916" y="1828800"/>
            <a:ext cx="128016" cy="182880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933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不確実性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6423660" y="2359152"/>
            <a:ext cx="2169414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SE(\u005chat{β₁})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867394" y="1828800"/>
            <a:ext cx="251688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67394" y="1828800"/>
            <a:ext cx="128016" cy="182880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05138" y="1993392"/>
            <a:ext cx="22059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判断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9105138" y="2359152"/>
            <a:ext cx="2169414" cy="11704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検定・信頼区間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3FA7A3"/>
          </a:solidFill>
          <a:ln w="12700">
            <a:solidFill>
              <a:srgbClr val="3FA7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違うのは式が少し複雑になることだけで、考え方の流れは同じである。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2SLS 推定値にも、もちろん標準誤差がある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別の標本を取れば、2SLS の値も揺れる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10241280" cy="1645920"/>
          </a:xfrm>
          <a:prstGeom prst="roundRect">
            <a:avLst>
              <a:gd name="adj" fmla="val 4444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1828800"/>
            <a:ext cx="128016" cy="164592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19933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" y="2359152"/>
            <a:ext cx="9893808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6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2SLS 推定量にも漸近分布があり、その分散を推定できる。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したがって、OLS と同様に検定や信頼区間を作ることができる。</a:t>
            </a:r>
            <a:endParaRPr lang="en-US" sz="146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2SLS のロバスト分散推定量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いまは「計算できる公式がある」ことを押さえればよい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79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1783080"/>
            <a:ext cx="3657600" cy="393192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20" y="2331720"/>
            <a:ext cx="9052560" cy="5029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4560" y="3154680"/>
            <a:ext cx="6583680" cy="5029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4400" y="411480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914400" y="4114800"/>
            <a:ext cx="128016" cy="114300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152144" y="427939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152144" y="4645152"/>
            <a:ext cx="989380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データ行列と残差を使って、2SLS 推定量の分散を推定する。</a:t>
            </a:r>
            <a:endParaRPr lang="en-US" sz="142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そこから t 検定と信頼区間を作る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推論のレポートは、最終的にはここに集約される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828800"/>
            <a:ext cx="3840480" cy="42062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240" y="1828800"/>
            <a:ext cx="3840480" cy="4206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96112" y="3063240"/>
            <a:ext cx="10241280" cy="1444752"/>
          </a:xfrm>
          <a:prstGeom prst="roundRect">
            <a:avLst>
              <a:gd name="adj" fmla="val 5063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96112" y="3063240"/>
            <a:ext cx="128016" cy="1444752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33856" y="3227832"/>
            <a:ext cx="9930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意味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1133856" y="3593592"/>
            <a:ext cx="9893808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をどれだけ明確に外れるかを t 値で見たり、ありうるパラメータの範囲を信頼区間で見たりする。</a:t>
            </a:r>
            <a:endParaRPr lang="en-US" sz="144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推定値の不確実性を絵で見る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推定値と 95% 信頼区間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81</a:t>
            </a:r>
            <a:endParaRPr lang="en-US" sz="900" dirty="0"/>
          </a:p>
        </p:txBody>
      </p:sp>
      <p:pic>
        <p:nvPicPr>
          <p:cNvPr id="11" name="Image 0" descr="/mnt/data/lecture2_slide_assets/wald_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75460"/>
            <a:ext cx="6766560" cy="272419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09560" y="18288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909560" y="1828800"/>
            <a:ext cx="128016" cy="10058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47304" y="199339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</a:t>
            </a:r>
            <a:endParaRPr lang="en-US" sz="1520" dirty="0"/>
          </a:p>
        </p:txBody>
      </p:sp>
      <p:sp>
        <p:nvSpPr>
          <p:cNvPr id="15" name="Text 12"/>
          <p:cNvSpPr/>
          <p:nvPr/>
        </p:nvSpPr>
        <p:spPr>
          <a:xfrm>
            <a:off x="8147304" y="2359152"/>
            <a:ext cx="2852928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0.0715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09560" y="3063240"/>
            <a:ext cx="3200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09560" y="3063240"/>
            <a:ext cx="128016" cy="1078992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47304" y="322783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標準誤差</a:t>
            </a:r>
            <a:endParaRPr lang="en-US" sz="1520" dirty="0"/>
          </a:p>
        </p:txBody>
      </p:sp>
      <p:sp>
        <p:nvSpPr>
          <p:cNvPr id="19" name="Text 16"/>
          <p:cNvSpPr/>
          <p:nvPr/>
        </p:nvSpPr>
        <p:spPr>
          <a:xfrm>
            <a:off x="8147304" y="3593592"/>
            <a:ext cx="2852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0.0219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909560" y="4453128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09560" y="4453128"/>
            <a:ext cx="128016" cy="9144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47304" y="46177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含意</a:t>
            </a:r>
            <a:endParaRPr lang="en-US" sz="1520" dirty="0"/>
          </a:p>
        </p:txBody>
      </p:sp>
      <p:sp>
        <p:nvSpPr>
          <p:cNvPr id="23" name="Text 20"/>
          <p:cNvSpPr/>
          <p:nvPr/>
        </p:nvSpPr>
        <p:spPr>
          <a:xfrm>
            <a:off x="8147304" y="4983480"/>
            <a:ext cx="285292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3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をまたがない。</a:t>
            </a:r>
            <a:endParaRPr lang="en-US" sz="153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論文では、結果はどのように報告されるか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Angrist and Krueger (1991), Table III, Panel 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82</a:t>
            </a:r>
            <a:endParaRPr lang="en-US" sz="900" dirty="0"/>
          </a:p>
        </p:txBody>
      </p:sp>
      <p:pic>
        <p:nvPicPr>
          <p:cNvPr id="11" name="Image 0" descr="/mnt/data/AK_tableII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00114"/>
            <a:ext cx="7132320" cy="392645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48072" y="4041648"/>
            <a:ext cx="2468880" cy="1234440"/>
          </a:xfrm>
          <a:prstGeom prst="rect">
            <a:avLst/>
          </a:prstGeom>
          <a:solidFill>
            <a:srgbClr val="FFFFFF">
              <a:alpha val="0"/>
            </a:srgbClr>
          </a:solidFill>
          <a:ln w="27940">
            <a:solidFill>
              <a:srgbClr val="E27D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83880" y="182880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83880" y="1828800"/>
            <a:ext cx="128016" cy="1234440"/>
          </a:xfrm>
          <a:prstGeom prst="rect">
            <a:avLst/>
          </a:prstGeom>
          <a:solidFill>
            <a:srgbClr val="E27D60"/>
          </a:solidFill>
          <a:ln w="12700">
            <a:solidFill>
              <a:srgbClr val="E27D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21624" y="19933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注目箇所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421624" y="2359152"/>
            <a:ext cx="2395728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列目の最後の 2 行。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と OLS の推定値が並ぶ。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183880" y="338328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183880" y="3383280"/>
            <a:ext cx="128016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21624" y="354787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行目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421624" y="3913632"/>
            <a:ext cx="2395728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8183880" y="48006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800600"/>
            <a:ext cx="128016" cy="105156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21624" y="496519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行目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421624" y="5330952"/>
            <a:ext cx="239572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標準誤差</a:t>
            </a:r>
            <a:endParaRPr lang="en-US" sz="15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Table III の読み方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行と OLS 行をそのまま読む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E6B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" y="182880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05840" y="1828800"/>
            <a:ext cx="128016" cy="1920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1993392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243584" y="2359152"/>
            <a:ext cx="4407408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0.0715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(0.0219)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828800"/>
            <a:ext cx="128016" cy="192024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1993392"/>
            <a:ext cx="4443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OLS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6455664" y="2359152"/>
            <a:ext cx="4407408" cy="1261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0.0801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(0.0004)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120" y="4343400"/>
            <a:ext cx="10195560" cy="1078992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4343400"/>
            <a:ext cx="128016" cy="1078992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97864" y="4507992"/>
            <a:ext cx="9884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解釈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197864" y="4873752"/>
            <a:ext cx="98480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Wald の推定値は標準誤差の約 3.3 倍なので、教育効果は統計的に有意。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一方で OLS の方が大きく、能力バイアスと整合的である。</a:t>
            </a:r>
            <a:endParaRPr lang="en-US" sz="142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E7B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今日のまとめ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 のコアだけをもう一度並べる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E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252831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783080"/>
            <a:ext cx="128016" cy="23317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1947672"/>
            <a:ext cx="2217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42416" y="2313432"/>
            <a:ext cx="2180844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条件付き分布の束。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シミュレーション可能な形で世界を書く。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3497580" y="1783080"/>
            <a:ext cx="252831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97580" y="1783080"/>
            <a:ext cx="128016" cy="23317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5324" y="1947672"/>
            <a:ext cx="2217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3735324" y="2313432"/>
            <a:ext cx="2180844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欲しいパラメータに届く変動を見つける。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190488" y="1783080"/>
            <a:ext cx="252831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1783080"/>
            <a:ext cx="128016" cy="2331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1947672"/>
            <a:ext cx="2217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6428232" y="2313432"/>
            <a:ext cx="2180844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データをパラメータの数に変換する。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883396" y="1783080"/>
            <a:ext cx="252831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83396" y="1783080"/>
            <a:ext cx="128016" cy="233172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1140" y="1947672"/>
            <a:ext cx="22174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9121140" y="2313432"/>
            <a:ext cx="2180844" cy="1673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推定値の不確実性を測る。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2E7E7B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 4 つがそろって初めて、データから意味のある結論に近づける。</a:t>
            </a:r>
            <a:endParaRPr lang="en-US" sz="139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E7B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2 のプロセスを一枚にすると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 → 識別 → 推定 → 推論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E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1874520"/>
            <a:ext cx="128016" cy="14173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20391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モデル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14984" y="2404872"/>
            <a:ext cx="202996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世界の仕組みを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式と分布で書く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8745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874520"/>
            <a:ext cx="128016" cy="14173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20391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識別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575304" y="2404872"/>
            <a:ext cx="202996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欲しい β₁ に届く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変動を見つける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97880" y="18745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874520"/>
            <a:ext cx="128016" cy="1417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20391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推定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135624" y="2404872"/>
            <a:ext cx="202996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計算ルールで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\u005chat{β₁} を作る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58200" y="18745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58200" y="1874520"/>
            <a:ext cx="128016" cy="1417320"/>
          </a:xfrm>
          <a:prstGeom prst="rect">
            <a:avLst/>
          </a:prstGeom>
          <a:solidFill>
            <a:srgbClr val="7E6BD6"/>
          </a:solidFill>
          <a:ln w="12700">
            <a:solidFill>
              <a:srgbClr val="7E6B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95944" y="20391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推論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695944" y="2404872"/>
            <a:ext cx="2029968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SE・t・CI 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不確実性を測る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82112" y="2578608"/>
            <a:ext cx="1097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742432" y="2578608"/>
            <a:ext cx="1097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302752" y="2578608"/>
            <a:ext cx="10972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2E7E7B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1 が「なぜ必要か」だったとすれば、Lecture 2 は「何をしている学問か」の見取り図である。</a:t>
            </a:r>
            <a:endParaRPr lang="en-US" sz="139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E7E7B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918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宿題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次回につながる準備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646920" y="347472"/>
            <a:ext cx="1965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29216" y="40690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E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10991088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6455664"/>
            <a:ext cx="1110996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計量経済学 I  |  Lecture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5568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83080"/>
            <a:ext cx="327355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1783080"/>
            <a:ext cx="128016" cy="2560320"/>
          </a:xfrm>
          <a:prstGeom prst="rect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476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078992" y="2313432"/>
            <a:ext cx="292608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関数の最大・最小問題を復習する。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特に first order condition を思い出す。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370832" y="1783080"/>
            <a:ext cx="327355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0832" y="1783080"/>
            <a:ext cx="128016" cy="25603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9476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608576" y="2313432"/>
            <a:ext cx="292608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lecture note のコードを読み、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各行が何をしているか確認する。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900416" y="1783080"/>
            <a:ext cx="3273552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00416" y="1783080"/>
            <a:ext cx="128016" cy="2560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9476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520" dirty="0"/>
          </a:p>
        </p:txBody>
      </p:sp>
      <p:sp>
        <p:nvSpPr>
          <p:cNvPr id="22" name="Text 20"/>
          <p:cNvSpPr/>
          <p:nvPr/>
        </p:nvSpPr>
        <p:spPr>
          <a:xfrm>
            <a:off x="8138160" y="2313432"/>
            <a:ext cx="292608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Quarto で lecture note を実行し、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図や式を自分でも再現してみる。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868680" y="4983480"/>
            <a:ext cx="10424160" cy="713232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983480"/>
            <a:ext cx="128016" cy="713232"/>
          </a:xfrm>
          <a:prstGeom prst="rect">
            <a:avLst/>
          </a:prstGeom>
          <a:solidFill>
            <a:srgbClr val="2E7E7B"/>
          </a:solidFill>
          <a:ln w="12700">
            <a:solidFill>
              <a:srgbClr val="2E7E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5148072"/>
            <a:ext cx="10113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1106424" y="5513832"/>
            <a:ext cx="10076688" cy="548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90" dirty="0">
                <a:solidFill>
                  <a:srgbClr val="37415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コード・式・図が対応して見えるようになると、計量経済学の理解は一気に進みやすい。</a:t>
            </a:r>
            <a:endParaRPr lang="en-US" sz="13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86</Slides>
  <Notes>86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2：モデルと計量経済学の3ステップ：識別・推定・推論</dc:title>
  <dc:subject>Econometrics Lecture 2</dc:subject>
  <dc:creator>OpenAI</dc:creator>
  <cp:lastModifiedBy>OpenAI</cp:lastModifiedBy>
  <cp:revision>1</cp:revision>
  <dcterms:created xsi:type="dcterms:W3CDTF">2026-03-14T03:20:27Z</dcterms:created>
  <dcterms:modified xsi:type="dcterms:W3CDTF">2026-03-14T03:20:27Z</dcterms:modified>
</cp:coreProperties>
</file>